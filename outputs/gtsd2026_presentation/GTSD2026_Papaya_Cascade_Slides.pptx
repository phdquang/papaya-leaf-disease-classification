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indent="0">
        <a:defRPr sz="1800"/>
      </a:lvl1pPr>
    </p:bodyStyle>
    <p:otherStyle>
      <a:lvl1pPr marL="0" indent="0"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94360" y="5943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6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A Two-Stage Deep Learning Cascade Framework</a:t>
            </a:r>
          </a:p>
          <a:p>
            <a:pPr algn="l"/>
            <a:r>
              <a:rPr lang="en-US" sz="26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for Robust Papaya Leaf Disease Detection</a:t>
            </a:r>
          </a:p>
          <a:p>
            <a:pPr algn="l"/>
            <a:r>
              <a:rPr lang="en-US" sz="26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and Classification</a:t>
            </a:r>
          </a:p>
        </p:txBody>
      </p:sp>
      <p:sp>
        <p:nvSpPr>
          <p:cNvPr id="4" name="Shape"/>
          <p:cNvSpPr/>
          <p:nvPr/>
        </p:nvSpPr>
        <p:spPr>
          <a:xfrm>
            <a:off x="621792" y="2011680"/>
            <a:ext cx="1371600" cy="54864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2084831" y="2011680"/>
            <a:ext cx="640080" cy="54864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816352" y="2011680"/>
            <a:ext cx="640080" cy="54864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TextBox"/>
          <p:cNvSpPr txBox="1"/>
          <p:nvPr/>
        </p:nvSpPr>
        <p:spPr>
          <a:xfrm>
            <a:off x="594360" y="2240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IEEE GTSD 2026 | International Conference on Green Technology and Sustainable Development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94360" y="2743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Dang Quang Pham | Quang Sang Le | Manh Quan Bui | Minh Hieu Vu</a:t>
            </a:r>
          </a:p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Faculty of Information Technology, Ho Chi Minh City University of Technology and Engineering (HCMUTE), Vietnam</a:t>
            </a:r>
          </a:p>
        </p:txBody>
      </p:sp>
      <p:sp>
        <p:nvSpPr>
          <p:cNvPr id="9" name="Shape"/>
          <p:cNvSpPr/>
          <p:nvPr/>
        </p:nvSpPr>
        <p:spPr>
          <a:xfrm>
            <a:off x="685800" y="4389120"/>
            <a:ext cx="2011680" cy="91440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CAD7CC"/>
            </a:solidFill>
          </a:ln>
        </p:spPr>
      </p:sp>
      <p:sp>
        <p:nvSpPr>
          <p:cNvPr id="10" name="TextBox"/>
          <p:cNvSpPr txBox="1"/>
          <p:nvPr/>
        </p:nvSpPr>
        <p:spPr>
          <a:xfrm>
            <a:off x="722376" y="4416552"/>
            <a:ext cx="1938528" cy="85953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3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Input Field Image</a:t>
            </a:r>
          </a:p>
          <a:p>
            <a:pPr algn="ctr"/>
            <a:r>
              <a:rPr lang="en-US" sz="13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(Cluttered)</a:t>
            </a:r>
          </a:p>
        </p:txBody>
      </p:sp>
      <p:sp>
        <p:nvSpPr>
          <p:cNvPr id="11" name="Shape"/>
          <p:cNvSpPr/>
          <p:nvPr/>
        </p:nvSpPr>
        <p:spPr>
          <a:xfrm>
            <a:off x="3154680" y="4389120"/>
            <a:ext cx="2194560" cy="91440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12" name="TextBox"/>
          <p:cNvSpPr txBox="1"/>
          <p:nvPr/>
        </p:nvSpPr>
        <p:spPr>
          <a:xfrm>
            <a:off x="3191256" y="4416552"/>
            <a:ext cx="2121408" cy="85953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3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Stage 1: YOLOv11m</a:t>
            </a:r>
          </a:p>
          <a:p>
            <a:pPr algn="ctr"/>
            <a:r>
              <a:rPr lang="en-US" sz="13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Lesion Localization</a:t>
            </a:r>
          </a:p>
        </p:txBody>
      </p:sp>
      <p:sp>
        <p:nvSpPr>
          <p:cNvPr id="13" name="Shape"/>
          <p:cNvSpPr/>
          <p:nvPr/>
        </p:nvSpPr>
        <p:spPr>
          <a:xfrm>
            <a:off x="5806440" y="4389120"/>
            <a:ext cx="2194560" cy="914400"/>
          </a:xfrm>
          <a:prstGeom prst="roundRect">
            <a:avLst/>
          </a:prstGeom>
          <a:solidFill>
            <a:srgbClr val="FFF3DE"/>
          </a:solidFill>
          <a:ln w="11000">
            <a:solidFill>
              <a:srgbClr val="E8A13A"/>
            </a:solidFill>
          </a:ln>
        </p:spPr>
      </p:sp>
      <p:sp>
        <p:nvSpPr>
          <p:cNvPr id="14" name="TextBox"/>
          <p:cNvSpPr txBox="1"/>
          <p:nvPr/>
        </p:nvSpPr>
        <p:spPr>
          <a:xfrm>
            <a:off x="5843016" y="4416552"/>
            <a:ext cx="2121408" cy="85953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3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Stage 2: EfficientNet-B2</a:t>
            </a:r>
          </a:p>
          <a:p>
            <a:pPr algn="ctr"/>
            <a:r>
              <a:rPr lang="en-US" sz="13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ROI Classification</a:t>
            </a:r>
          </a:p>
        </p:txBody>
      </p:sp>
      <p:sp>
        <p:nvSpPr>
          <p:cNvPr id="15" name="Shape"/>
          <p:cNvSpPr/>
          <p:nvPr/>
        </p:nvSpPr>
        <p:spPr>
          <a:xfrm>
            <a:off x="8458200" y="4389120"/>
            <a:ext cx="2011680" cy="9144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2E7D55"/>
            </a:solidFill>
          </a:ln>
        </p:spPr>
      </p:sp>
      <p:sp>
        <p:nvSpPr>
          <p:cNvPr id="16" name="TextBox"/>
          <p:cNvSpPr txBox="1"/>
          <p:nvPr/>
        </p:nvSpPr>
        <p:spPr>
          <a:xfrm>
            <a:off x="8494776" y="4416552"/>
            <a:ext cx="1938528" cy="85953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3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Robust 5-Class</a:t>
            </a:r>
          </a:p>
          <a:p>
            <a:pPr algn="ctr"/>
            <a:r>
              <a:rPr lang="en-US" sz="13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17" name="Shape"/>
          <p:cNvSpPr/>
          <p:nvPr/>
        </p:nvSpPr>
        <p:spPr>
          <a:xfrm>
            <a:off x="2770632" y="4663440"/>
            <a:ext cx="320040" cy="365760"/>
          </a:xfrm>
          <a:prstGeom prst="round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18" name="TextBox"/>
          <p:cNvSpPr txBox="1"/>
          <p:nvPr/>
        </p:nvSpPr>
        <p:spPr>
          <a:xfrm>
            <a:off x="2807208" y="4690872"/>
            <a:ext cx="2468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8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9" name="Shape"/>
          <p:cNvSpPr/>
          <p:nvPr/>
        </p:nvSpPr>
        <p:spPr>
          <a:xfrm>
            <a:off x="5422392" y="4663440"/>
            <a:ext cx="320040" cy="365760"/>
          </a:xfrm>
          <a:prstGeom prst="round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20" name="TextBox"/>
          <p:cNvSpPr txBox="1"/>
          <p:nvPr/>
        </p:nvSpPr>
        <p:spPr>
          <a:xfrm>
            <a:off x="5458968" y="4690872"/>
            <a:ext cx="2468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8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Shape"/>
          <p:cNvSpPr/>
          <p:nvPr/>
        </p:nvSpPr>
        <p:spPr>
          <a:xfrm>
            <a:off x="8074152" y="4663440"/>
            <a:ext cx="320040" cy="365760"/>
          </a:xfrm>
          <a:prstGeom prst="round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22" name="TextBox"/>
          <p:cNvSpPr txBox="1"/>
          <p:nvPr/>
        </p:nvSpPr>
        <p:spPr>
          <a:xfrm>
            <a:off x="8110727" y="4690872"/>
            <a:ext cx="2468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8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I. Motivations: Agricultural Background &amp; The Challenge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Papaya diseases cause severe yield loss, but early symptoms closely resemble nutrient stress.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5029200" cy="12344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109728" cy="123444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3" name="TextBox"/>
          <p:cNvSpPr txBox="1"/>
          <p:nvPr/>
        </p:nvSpPr>
        <p:spPr>
          <a:xfrm>
            <a:off x="960120" y="1828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Economic Impact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960120" y="214884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Widely cultivated tropical fruit rich in antioxidants and vitamins; vital for agricultural economies.</a:t>
            </a:r>
          </a:p>
        </p:txBody>
      </p:sp>
      <p:sp>
        <p:nvSpPr>
          <p:cNvPr id="15" name="Shape"/>
          <p:cNvSpPr/>
          <p:nvPr/>
        </p:nvSpPr>
        <p:spPr>
          <a:xfrm>
            <a:off x="5989320" y="1691640"/>
            <a:ext cx="5029200" cy="12344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6" name="Shape"/>
          <p:cNvSpPr/>
          <p:nvPr/>
        </p:nvSpPr>
        <p:spPr>
          <a:xfrm>
            <a:off x="5989320" y="1691640"/>
            <a:ext cx="109728" cy="1234440"/>
          </a:xfrm>
          <a:prstGeom prst="rect">
            <a:avLst/>
          </a:prstGeom>
          <a:solidFill>
            <a:srgbClr val="C94A4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6263640" y="1828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C94A45"/>
                </a:solidFill>
                <a:latin typeface="Aptos"/>
                <a:ea typeface="Aptos"/>
                <a:cs typeface="Aptos"/>
              </a:rPr>
              <a:t>Foliar Threats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263640" y="214884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Anthracnose, Bacterial Spot, Curl, and Ring Spot cause severe leaf damage and fruit degradation.</a:t>
            </a:r>
          </a:p>
        </p:txBody>
      </p:sp>
      <p:sp>
        <p:nvSpPr>
          <p:cNvPr id="19" name="Shape"/>
          <p:cNvSpPr/>
          <p:nvPr/>
        </p:nvSpPr>
        <p:spPr>
          <a:xfrm>
            <a:off x="685800" y="3154680"/>
            <a:ext cx="5029200" cy="12344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0" name="Shape"/>
          <p:cNvSpPr/>
          <p:nvPr/>
        </p:nvSpPr>
        <p:spPr>
          <a:xfrm>
            <a:off x="685800" y="3154680"/>
            <a:ext cx="109728" cy="123444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1" name="TextBox"/>
          <p:cNvSpPr txBox="1"/>
          <p:nvPr/>
        </p:nvSpPr>
        <p:spPr>
          <a:xfrm>
            <a:off x="960120" y="3291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Diagnostic Dilemma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960120" y="361188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Early disease spots mimic nutrient deficiency. Visual observation alone is subjective and error-prone.</a:t>
            </a:r>
          </a:p>
        </p:txBody>
      </p:sp>
      <p:sp>
        <p:nvSpPr>
          <p:cNvPr id="23" name="Shape"/>
          <p:cNvSpPr/>
          <p:nvPr/>
        </p:nvSpPr>
        <p:spPr>
          <a:xfrm>
            <a:off x="5989320" y="3154680"/>
            <a:ext cx="5029200" cy="12344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4" name="Shape"/>
          <p:cNvSpPr/>
          <p:nvPr/>
        </p:nvSpPr>
        <p:spPr>
          <a:xfrm>
            <a:off x="5989320" y="3154680"/>
            <a:ext cx="109728" cy="123444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25" name="TextBox"/>
          <p:cNvSpPr txBox="1"/>
          <p:nvPr/>
        </p:nvSpPr>
        <p:spPr>
          <a:xfrm>
            <a:off x="6263640" y="3291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Pesticide Risk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263640" y="361188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Misdiagnosis leads to excessive chemical spraying—polluting soil &amp; water and raising farm costs.</a:t>
            </a:r>
          </a:p>
        </p:txBody>
      </p:sp>
      <p:sp>
        <p:nvSpPr>
          <p:cNvPr id="27" name="Shape"/>
          <p:cNvSpPr/>
          <p:nvPr/>
        </p:nvSpPr>
        <p:spPr>
          <a:xfrm>
            <a:off x="685800" y="4892040"/>
            <a:ext cx="10332720" cy="822960"/>
          </a:xfrm>
          <a:prstGeom prst="roundRect">
            <a:avLst/>
          </a:prstGeom>
          <a:solidFill>
            <a:srgbClr val="17231A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722376" y="4919472"/>
            <a:ext cx="10259568" cy="76809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Requirement: An automated vision system that isolates true disease lesions from environmental clutter.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I. Motivations: Limitations of Existing AI Approaches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Why standard single-stage models struggle in complex, real-world field conditions: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5029200" cy="4206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5029200" cy="548640"/>
          </a:xfrm>
          <a:prstGeom prst="roundRect">
            <a:avLst/>
          </a:prstGeom>
          <a:solidFill>
            <a:srgbClr val="FCEAE8"/>
          </a:solidFill>
          <a:ln w="11000">
            <a:solidFill>
              <a:srgbClr val="C94A45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C94A45"/>
                </a:solidFill>
                <a:latin typeface="Aptos"/>
                <a:ea typeface="Aptos"/>
                <a:cs typeface="Aptos"/>
              </a:rPr>
              <a:t>Why NOT Whole-Image CNN?</a:t>
            </a:r>
          </a:p>
        </p:txBody>
      </p:sp>
      <p:sp>
        <p:nvSpPr>
          <p:cNvPr id="14" name="Shape"/>
          <p:cNvSpPr/>
          <p:nvPr/>
        </p:nvSpPr>
        <p:spPr>
          <a:xfrm>
            <a:off x="91440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5" name="TextBox"/>
          <p:cNvSpPr txBox="1"/>
          <p:nvPr/>
        </p:nvSpPr>
        <p:spPr>
          <a:xfrm>
            <a:off x="1115568" y="2468880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Background Interference: Real orchard images contain soil, stones, weeds, insects, and harsh lighting.</a:t>
            </a:r>
          </a:p>
        </p:txBody>
      </p:sp>
      <p:sp>
        <p:nvSpPr>
          <p:cNvPr id="16" name="Shape"/>
          <p:cNvSpPr/>
          <p:nvPr/>
        </p:nvSpPr>
        <p:spPr>
          <a:xfrm>
            <a:off x="914400" y="32278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1115568" y="3154680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Multi-Leaf &amp; Occlusion: Multiple overlapping leaves confuse global feature extractors.</a:t>
            </a:r>
          </a:p>
        </p:txBody>
      </p:sp>
      <p:sp>
        <p:nvSpPr>
          <p:cNvPr id="18" name="Shape"/>
          <p:cNvSpPr/>
          <p:nvPr/>
        </p:nvSpPr>
        <p:spPr>
          <a:xfrm>
            <a:off x="914400" y="39136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9" name="TextBox"/>
          <p:cNvSpPr txBox="1"/>
          <p:nvPr/>
        </p:nvSpPr>
        <p:spPr>
          <a:xfrm>
            <a:off x="1115568" y="3840480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Result: Irrelevant background noise dominates, drastically degrading classification accuracy.</a:t>
            </a:r>
          </a:p>
        </p:txBody>
      </p:sp>
      <p:sp>
        <p:nvSpPr>
          <p:cNvPr id="20" name="Shape"/>
          <p:cNvSpPr/>
          <p:nvPr/>
        </p:nvSpPr>
        <p:spPr>
          <a:xfrm>
            <a:off x="5943600" y="1691640"/>
            <a:ext cx="5029200" cy="4206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1" name="Shape"/>
          <p:cNvSpPr/>
          <p:nvPr/>
        </p:nvSpPr>
        <p:spPr>
          <a:xfrm>
            <a:off x="5943600" y="1691640"/>
            <a:ext cx="5029200" cy="548640"/>
          </a:xfrm>
          <a:prstGeom prst="roundRect">
            <a:avLst/>
          </a:prstGeom>
          <a:solidFill>
            <a:srgbClr val="FFF3DE"/>
          </a:solidFill>
          <a:ln w="11000">
            <a:solidFill>
              <a:srgbClr val="E8A13A"/>
            </a:solidFill>
          </a:ln>
        </p:spPr>
      </p:sp>
      <p:sp>
        <p:nvSpPr>
          <p:cNvPr id="22" name="TextBox"/>
          <p:cNvSpPr txBox="1"/>
          <p:nvPr/>
        </p:nvSpPr>
        <p:spPr>
          <a:xfrm>
            <a:off x="6172200" y="1828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Why NOT Standalone YOLO?</a:t>
            </a:r>
          </a:p>
        </p:txBody>
      </p:sp>
      <p:sp>
        <p:nvSpPr>
          <p:cNvPr id="23" name="Shape"/>
          <p:cNvSpPr/>
          <p:nvPr/>
        </p:nvSpPr>
        <p:spPr>
          <a:xfrm>
            <a:off x="617220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6373368" y="2468880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The Confidence Threshold Dilemma in end-to-end 5-class detection:</a:t>
            </a:r>
          </a:p>
        </p:txBody>
      </p:sp>
      <p:sp>
        <p:nvSpPr>
          <p:cNvPr id="25" name="Shape"/>
          <p:cNvSpPr/>
          <p:nvPr/>
        </p:nvSpPr>
        <p:spPr>
          <a:xfrm>
            <a:off x="6172200" y="32278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6373368" y="3154680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High Threshold -&gt; Misses early, subtle disease spots (False Negatives / Low Recall).</a:t>
            </a:r>
          </a:p>
        </p:txBody>
      </p:sp>
      <p:sp>
        <p:nvSpPr>
          <p:cNvPr id="27" name="Shape"/>
          <p:cNvSpPr/>
          <p:nvPr/>
        </p:nvSpPr>
        <p:spPr>
          <a:xfrm>
            <a:off x="6172200" y="39136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6373368" y="3840480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Low Threshold -&gt; Misclassifies soil, stones, or nutrient stress as diseases (False Positives).</a:t>
            </a:r>
          </a:p>
        </p:txBody>
      </p:sp>
      <p:sp>
        <p:nvSpPr>
          <p:cNvPr id="29" name="Shape"/>
          <p:cNvSpPr/>
          <p:nvPr/>
        </p:nvSpPr>
        <p:spPr>
          <a:xfrm>
            <a:off x="6172200" y="45994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0" name="TextBox"/>
          <p:cNvSpPr txBox="1"/>
          <p:nvPr/>
        </p:nvSpPr>
        <p:spPr>
          <a:xfrm>
            <a:off x="6373368" y="4526280"/>
            <a:ext cx="437083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Result: Object detectors alone struggle with fine-grained morphological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I. Motivations: Research Objectives &amp; Proposed Solution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Our Philosophy: Localize first, classify second — combining detection robustness with CNN precision.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737360"/>
            <a:ext cx="10332720" cy="100584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12" name="TextBox"/>
          <p:cNvSpPr txBox="1"/>
          <p:nvPr/>
        </p:nvSpPr>
        <p:spPr>
          <a:xfrm>
            <a:off x="722376" y="1764792"/>
            <a:ext cx="10259568" cy="95097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Stage 1: Lesion Localization (YOLOv11m)</a:t>
            </a:r>
          </a:p>
          <a:p>
            <a:pPr algn="l"/>
            <a:r>
              <a:rPr lang="en-US" sz="15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Detects and crops suspicious Regions of Interest (ROIs), overcoming occlusion and removing background noise.</a:t>
            </a:r>
          </a:p>
        </p:txBody>
      </p:sp>
      <p:sp>
        <p:nvSpPr>
          <p:cNvPr id="13" name="Shape"/>
          <p:cNvSpPr/>
          <p:nvPr/>
        </p:nvSpPr>
        <p:spPr>
          <a:xfrm>
            <a:off x="685800" y="2926080"/>
            <a:ext cx="10332720" cy="100584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14" name="TextBox"/>
          <p:cNvSpPr txBox="1"/>
          <p:nvPr/>
        </p:nvSpPr>
        <p:spPr>
          <a:xfrm>
            <a:off x="722376" y="2953512"/>
            <a:ext cx="10259568" cy="95097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Stage 2: ROI-Based Classification (EfficientNet-B2)</a:t>
            </a:r>
          </a:p>
          <a:p>
            <a:pPr algn="l"/>
            <a:r>
              <a:rPr lang="en-US" sz="15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Focuses 100% of network capacity on fine-grained lesion morphology without environmental interference.</a:t>
            </a:r>
          </a:p>
        </p:txBody>
      </p:sp>
      <p:sp>
        <p:nvSpPr>
          <p:cNvPr id="15" name="Shape"/>
          <p:cNvSpPr/>
          <p:nvPr/>
        </p:nvSpPr>
        <p:spPr>
          <a:xfrm>
            <a:off x="685800" y="4251960"/>
            <a:ext cx="3200400" cy="12801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6" name="Shape"/>
          <p:cNvSpPr/>
          <p:nvPr/>
        </p:nvSpPr>
        <p:spPr>
          <a:xfrm>
            <a:off x="685800" y="4251960"/>
            <a:ext cx="82296" cy="128016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896112" y="43891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+2.07%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896112" y="484632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Accuracy boost over whole-image</a:t>
            </a:r>
          </a:p>
        </p:txBody>
      </p:sp>
      <p:sp>
        <p:nvSpPr>
          <p:cNvPr id="19" name="Shape"/>
          <p:cNvSpPr/>
          <p:nvPr/>
        </p:nvSpPr>
        <p:spPr>
          <a:xfrm>
            <a:off x="4251960" y="4251960"/>
            <a:ext cx="3200400" cy="12801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0" name="Shape"/>
          <p:cNvSpPr/>
          <p:nvPr/>
        </p:nvSpPr>
        <p:spPr>
          <a:xfrm>
            <a:off x="4251960" y="4251960"/>
            <a:ext cx="82296" cy="128016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21" name="TextBox"/>
          <p:cNvSpPr txBox="1"/>
          <p:nvPr/>
        </p:nvSpPr>
        <p:spPr>
          <a:xfrm>
            <a:off x="4462272" y="43891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F6FB6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4462272" y="484632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Background clutter stripped</a:t>
            </a:r>
          </a:p>
        </p:txBody>
      </p:sp>
      <p:sp>
        <p:nvSpPr>
          <p:cNvPr id="23" name="Shape"/>
          <p:cNvSpPr/>
          <p:nvPr/>
        </p:nvSpPr>
        <p:spPr>
          <a:xfrm>
            <a:off x="7818120" y="4251960"/>
            <a:ext cx="3200400" cy="12801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4" name="Shape"/>
          <p:cNvSpPr/>
          <p:nvPr/>
        </p:nvSpPr>
        <p:spPr>
          <a:xfrm>
            <a:off x="7818120" y="4251960"/>
            <a:ext cx="82296" cy="128016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5" name="TextBox"/>
          <p:cNvSpPr txBox="1"/>
          <p:nvPr/>
        </p:nvSpPr>
        <p:spPr>
          <a:xfrm>
            <a:off x="8028432" y="43891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E8A13A"/>
                </a:solidFill>
                <a:latin typeface="Aptos Display"/>
                <a:ea typeface="Aptos Display"/>
                <a:cs typeface="Aptos Display"/>
              </a:rPr>
              <a:t>~30 ms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8028432" y="4846320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Real-time cascade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II. Dataset Preparation &amp; Rigorous Data Hygiene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We evaluated on BDPapayaLeaf, implementing strict auditing to resolve a major public dataset anomaly.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3200400" cy="1097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82296" cy="109728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13" name="TextBox"/>
          <p:cNvSpPr txBox="1"/>
          <p:nvPr/>
        </p:nvSpPr>
        <p:spPr>
          <a:xfrm>
            <a:off x="896112" y="182880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F6FB6"/>
                </a:solidFill>
                <a:latin typeface="Aptos Display"/>
                <a:ea typeface="Aptos Display"/>
                <a:cs typeface="Aptos Display"/>
              </a:rPr>
              <a:t>1,707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896112" y="22860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Detection images (4 disease classes)</a:t>
            </a:r>
          </a:p>
        </p:txBody>
      </p:sp>
      <p:sp>
        <p:nvSpPr>
          <p:cNvPr id="15" name="Shape"/>
          <p:cNvSpPr/>
          <p:nvPr/>
        </p:nvSpPr>
        <p:spPr>
          <a:xfrm>
            <a:off x="685800" y="2971800"/>
            <a:ext cx="3200400" cy="1097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6" name="Shape"/>
          <p:cNvSpPr/>
          <p:nvPr/>
        </p:nvSpPr>
        <p:spPr>
          <a:xfrm>
            <a:off x="685800" y="2971800"/>
            <a:ext cx="82296" cy="109728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896112" y="310896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11,111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896112" y="356616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Classification ROIs / images</a:t>
            </a:r>
          </a:p>
        </p:txBody>
      </p:sp>
      <p:sp>
        <p:nvSpPr>
          <p:cNvPr id="19" name="Shape"/>
          <p:cNvSpPr/>
          <p:nvPr/>
        </p:nvSpPr>
        <p:spPr>
          <a:xfrm>
            <a:off x="685800" y="4251960"/>
            <a:ext cx="3200400" cy="1097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0" name="Shape"/>
          <p:cNvSpPr/>
          <p:nvPr/>
        </p:nvSpPr>
        <p:spPr>
          <a:xfrm>
            <a:off x="685800" y="4251960"/>
            <a:ext cx="82296" cy="109728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1" name="TextBox"/>
          <p:cNvSpPr txBox="1"/>
          <p:nvPr/>
        </p:nvSpPr>
        <p:spPr>
          <a:xfrm>
            <a:off x="896112" y="43891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E8A13A"/>
                </a:solidFill>
                <a:latin typeface="Aptos Display"/>
                <a:ea typeface="Aptos Display"/>
                <a:cs typeface="Aptos Display"/>
              </a:rPr>
              <a:t>291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896112" y="48463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Final cascade test set images</a:t>
            </a:r>
          </a:p>
        </p:txBody>
      </p:sp>
      <p:sp>
        <p:nvSpPr>
          <p:cNvPr id="23" name="Shape"/>
          <p:cNvSpPr/>
          <p:nvPr/>
        </p:nvSpPr>
        <p:spPr>
          <a:xfrm>
            <a:off x="4206240" y="1691640"/>
            <a:ext cx="6812280" cy="36576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4" name="Shape"/>
          <p:cNvSpPr/>
          <p:nvPr/>
        </p:nvSpPr>
        <p:spPr>
          <a:xfrm>
            <a:off x="4206240" y="1691640"/>
            <a:ext cx="6812280" cy="548640"/>
          </a:xfrm>
          <a:prstGeom prst="roundRect">
            <a:avLst/>
          </a:prstGeom>
          <a:solidFill>
            <a:srgbClr val="FCEAE8"/>
          </a:solidFill>
          <a:ln w="11000">
            <a:solidFill>
              <a:srgbClr val="C94A45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4434840" y="1828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C94A45"/>
                </a:solidFill>
                <a:latin typeface="Aptos"/>
                <a:ea typeface="Aptos"/>
                <a:cs typeface="Aptos"/>
              </a:rPr>
              <a:t>🚨 Critical Data Hygiene &amp; Scientific Integrity</a:t>
            </a:r>
          </a:p>
        </p:txBody>
      </p:sp>
      <p:sp>
        <p:nvSpPr>
          <p:cNvPr id="26" name="Shape"/>
          <p:cNvSpPr/>
          <p:nvPr/>
        </p:nvSpPr>
        <p:spPr>
          <a:xfrm>
            <a:off x="4434840" y="249631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7" name="TextBox"/>
          <p:cNvSpPr txBox="1"/>
          <p:nvPr/>
        </p:nvSpPr>
        <p:spPr>
          <a:xfrm>
            <a:off x="4636007" y="2423160"/>
            <a:ext cx="6108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Discovery: Uncovered ~200 images labeled as 'Bacterial Spot' that were 100% identical duplicates of 'Leaf Curl' in the public dataset.</a:t>
            </a:r>
          </a:p>
        </p:txBody>
      </p:sp>
      <p:sp>
        <p:nvSpPr>
          <p:cNvPr id="28" name="Shape"/>
          <p:cNvSpPr/>
          <p:nvPr/>
        </p:nvSpPr>
        <p:spPr>
          <a:xfrm>
            <a:off x="4434840" y="3136391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9" name="TextBox"/>
          <p:cNvSpPr txBox="1"/>
          <p:nvPr/>
        </p:nvSpPr>
        <p:spPr>
          <a:xfrm>
            <a:off x="4636007" y="3063239"/>
            <a:ext cx="6108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Action: We rigorously purged all duplicated/mislabeled images to prevent data leakage and artificial accuracy inflation.</a:t>
            </a:r>
          </a:p>
        </p:txBody>
      </p:sp>
      <p:sp>
        <p:nvSpPr>
          <p:cNvPr id="30" name="Shape"/>
          <p:cNvSpPr/>
          <p:nvPr/>
        </p:nvSpPr>
        <p:spPr>
          <a:xfrm>
            <a:off x="4434840" y="37764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1" name="TextBox"/>
          <p:cNvSpPr txBox="1"/>
          <p:nvPr/>
        </p:nvSpPr>
        <p:spPr>
          <a:xfrm>
            <a:off x="4636007" y="3703320"/>
            <a:ext cx="6108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Impact: While we share the BDPapayaLeaf origin with prior studies [21-23], our models are evaluated on a cleaner, more rigorous subset.</a:t>
            </a:r>
          </a:p>
        </p:txBody>
      </p:sp>
      <p:sp>
        <p:nvSpPr>
          <p:cNvPr id="32" name="Shape"/>
          <p:cNvSpPr/>
          <p:nvPr/>
        </p:nvSpPr>
        <p:spPr>
          <a:xfrm>
            <a:off x="4434840" y="4416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3" name="TextBox"/>
          <p:cNvSpPr txBox="1"/>
          <p:nvPr/>
        </p:nvSpPr>
        <p:spPr>
          <a:xfrm>
            <a:off x="4636007" y="4343400"/>
            <a:ext cx="6108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Split Ratio: Standardized 70 : 15 : 15 (Train : Val : Test) across both stages.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II. Roboflow Annotation &amp; ROI Extraction Strategy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Why healthy leaves have no bounding boxes, and how they flow through our diagnostic pipeline: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51206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5120640" cy="54864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Precision Annotation on Roboflow</a:t>
            </a:r>
          </a:p>
        </p:txBody>
      </p:sp>
      <p:sp>
        <p:nvSpPr>
          <p:cNvPr id="14" name="Shape"/>
          <p:cNvSpPr/>
          <p:nvPr/>
        </p:nvSpPr>
        <p:spPr>
          <a:xfrm>
            <a:off x="91440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5" name="TextBox"/>
          <p:cNvSpPr txBox="1"/>
          <p:nvPr/>
        </p:nvSpPr>
        <p:spPr>
          <a:xfrm>
            <a:off x="1115568" y="2468880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Our team manually curated and re-annotated bounding boxes on Roboflow for all 4 disease classes.</a:t>
            </a:r>
          </a:p>
        </p:txBody>
      </p:sp>
      <p:sp>
        <p:nvSpPr>
          <p:cNvPr id="16" name="Shape"/>
          <p:cNvSpPr/>
          <p:nvPr/>
        </p:nvSpPr>
        <p:spPr>
          <a:xfrm>
            <a:off x="91440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1115568" y="3200400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Normalized bounding box coordinates (x, y, w, h) capture lesions across varying scales, orientations, and lighting.</a:t>
            </a:r>
          </a:p>
        </p:txBody>
      </p:sp>
      <p:sp>
        <p:nvSpPr>
          <p:cNvPr id="18" name="Shape"/>
          <p:cNvSpPr/>
          <p:nvPr/>
        </p:nvSpPr>
        <p:spPr>
          <a:xfrm>
            <a:off x="91440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9" name="TextBox"/>
          <p:cNvSpPr txBox="1"/>
          <p:nvPr/>
        </p:nvSpPr>
        <p:spPr>
          <a:xfrm>
            <a:off x="1115568" y="3931920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Cropped ROIs are resized to 260x260 to match EfficientNet-B2 input specifications.</a:t>
            </a:r>
          </a:p>
        </p:txBody>
      </p:sp>
      <p:sp>
        <p:nvSpPr>
          <p:cNvPr id="20" name="Shape"/>
          <p:cNvSpPr/>
          <p:nvPr/>
        </p:nvSpPr>
        <p:spPr>
          <a:xfrm>
            <a:off x="6080760" y="1691640"/>
            <a:ext cx="493776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1" name="Shape"/>
          <p:cNvSpPr/>
          <p:nvPr/>
        </p:nvSpPr>
        <p:spPr>
          <a:xfrm>
            <a:off x="6080760" y="1691640"/>
            <a:ext cx="4937760" cy="54864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22" name="TextBox"/>
          <p:cNvSpPr txBox="1"/>
          <p:nvPr/>
        </p:nvSpPr>
        <p:spPr>
          <a:xfrm>
            <a:off x="6309360" y="18288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Why NO Bounding Boxes for Healthy?</a:t>
            </a:r>
          </a:p>
        </p:txBody>
      </p:sp>
      <p:sp>
        <p:nvSpPr>
          <p:cNvPr id="23" name="Shape"/>
          <p:cNvSpPr/>
          <p:nvPr/>
        </p:nvSpPr>
        <p:spPr>
          <a:xfrm>
            <a:off x="630936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6510528" y="246888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Scientific Rationale: Healthy leaves contain no disease lesions or visual abnormalities to bind.</a:t>
            </a:r>
          </a:p>
        </p:txBody>
      </p:sp>
      <p:sp>
        <p:nvSpPr>
          <p:cNvPr id="25" name="Shape"/>
          <p:cNvSpPr/>
          <p:nvPr/>
        </p:nvSpPr>
        <p:spPr>
          <a:xfrm>
            <a:off x="630936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6510528" y="320040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Cost Optimization: Eliminates redundant manual annotation effort and time.</a:t>
            </a:r>
          </a:p>
        </p:txBody>
      </p:sp>
      <p:sp>
        <p:nvSpPr>
          <p:cNvPr id="27" name="Shape"/>
          <p:cNvSpPr/>
          <p:nvPr/>
        </p:nvSpPr>
        <p:spPr>
          <a:xfrm>
            <a:off x="630936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6510528" y="393192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Workflow Logic: If Stage 1 detects 0 lesion boxes -&gt; automatically route to Healthy / Background state.</a:t>
            </a:r>
          </a:p>
        </p:txBody>
      </p:sp>
      <p:sp>
        <p:nvSpPr>
          <p:cNvPr id="29" name="Shape"/>
          <p:cNvSpPr/>
          <p:nvPr/>
        </p:nvSpPr>
        <p:spPr>
          <a:xfrm>
            <a:off x="6309360" y="473659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0" name="TextBox"/>
          <p:cNvSpPr txBox="1"/>
          <p:nvPr/>
        </p:nvSpPr>
        <p:spPr>
          <a:xfrm>
            <a:off x="6510528" y="466344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Farm Scalability: In real orchards, non-lesion detections naturally filter out soil, stones, and weeds!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II. Addressing Class Imbalance &amp; Data Augmentation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Class-weighted loss weights and spatial augmentations prevent majority-class bias during training.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51206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TextBox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Class-Weighted Loss Weights (wc = N / K*nc)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914400" y="2395728"/>
            <a:ext cx="1633118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Healthy</a:t>
            </a:r>
          </a:p>
        </p:txBody>
      </p:sp>
      <p:sp>
        <p:nvSpPr>
          <p:cNvPr id="14" name="Shape"/>
          <p:cNvSpPr/>
          <p:nvPr/>
        </p:nvSpPr>
        <p:spPr>
          <a:xfrm>
            <a:off x="2593238" y="2487168"/>
            <a:ext cx="2207361" cy="20482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5" name="Shape"/>
          <p:cNvSpPr/>
          <p:nvPr/>
        </p:nvSpPr>
        <p:spPr>
          <a:xfrm>
            <a:off x="2593238" y="2487168"/>
            <a:ext cx="2085956" cy="204825"/>
          </a:xfrm>
          <a:prstGeom prst="roundRect">
            <a:avLst/>
          </a:prstGeom>
          <a:solidFill>
            <a:srgbClr val="C94A45"/>
          </a:solidFill>
          <a:ln>
            <a:noFill/>
          </a:ln>
        </p:spPr>
      </p:sp>
      <p:sp>
        <p:nvSpPr>
          <p:cNvPr id="16" name="TextBox"/>
          <p:cNvSpPr txBox="1"/>
          <p:nvPr/>
        </p:nvSpPr>
        <p:spPr>
          <a:xfrm>
            <a:off x="4892040" y="2395728"/>
            <a:ext cx="685800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94.50x weight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14400" y="2980944"/>
            <a:ext cx="1633118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Curl</a:t>
            </a:r>
          </a:p>
        </p:txBody>
      </p:sp>
      <p:sp>
        <p:nvSpPr>
          <p:cNvPr id="18" name="Shape"/>
          <p:cNvSpPr/>
          <p:nvPr/>
        </p:nvSpPr>
        <p:spPr>
          <a:xfrm>
            <a:off x="2593238" y="3072384"/>
            <a:ext cx="2207361" cy="20482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9" name="Shape"/>
          <p:cNvSpPr/>
          <p:nvPr/>
        </p:nvSpPr>
        <p:spPr>
          <a:xfrm>
            <a:off x="2593238" y="3072384"/>
            <a:ext cx="1313380" cy="204825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0" name="TextBox"/>
          <p:cNvSpPr txBox="1"/>
          <p:nvPr/>
        </p:nvSpPr>
        <p:spPr>
          <a:xfrm>
            <a:off x="4892040" y="2980944"/>
            <a:ext cx="685800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59.50x weight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14400" y="3566160"/>
            <a:ext cx="1633118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Bacterial Spot</a:t>
            </a:r>
          </a:p>
        </p:txBody>
      </p:sp>
      <p:sp>
        <p:nvSpPr>
          <p:cNvPr id="22" name="Shape"/>
          <p:cNvSpPr/>
          <p:nvPr/>
        </p:nvSpPr>
        <p:spPr>
          <a:xfrm>
            <a:off x="2593238" y="3657600"/>
            <a:ext cx="2207361" cy="20482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3" name="Shape"/>
          <p:cNvSpPr/>
          <p:nvPr/>
        </p:nvSpPr>
        <p:spPr>
          <a:xfrm>
            <a:off x="2593238" y="3657600"/>
            <a:ext cx="1044082" cy="204825"/>
          </a:xfrm>
          <a:prstGeom prst="round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4892040" y="3566160"/>
            <a:ext cx="685800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47.30x weight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914400" y="4151375"/>
            <a:ext cx="1633118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Ring Spot</a:t>
            </a:r>
          </a:p>
        </p:txBody>
      </p:sp>
      <p:sp>
        <p:nvSpPr>
          <p:cNvPr id="26" name="Shape"/>
          <p:cNvSpPr/>
          <p:nvPr/>
        </p:nvSpPr>
        <p:spPr>
          <a:xfrm>
            <a:off x="2593238" y="4242816"/>
            <a:ext cx="2207361" cy="20482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7" name="Shape"/>
          <p:cNvSpPr/>
          <p:nvPr/>
        </p:nvSpPr>
        <p:spPr>
          <a:xfrm>
            <a:off x="2593238" y="4242816"/>
            <a:ext cx="139063" cy="204825"/>
          </a:xfrm>
          <a:prstGeom prst="roundRect">
            <a:avLst/>
          </a:prstGeom>
          <a:solidFill>
            <a:srgbClr val="39A6A3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4892040" y="4151375"/>
            <a:ext cx="685800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6.30x weight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914400" y="4736592"/>
            <a:ext cx="1633118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Anthracnose</a:t>
            </a:r>
          </a:p>
        </p:txBody>
      </p:sp>
      <p:sp>
        <p:nvSpPr>
          <p:cNvPr id="30" name="Shape"/>
          <p:cNvSpPr/>
          <p:nvPr/>
        </p:nvSpPr>
        <p:spPr>
          <a:xfrm>
            <a:off x="2593238" y="4828032"/>
            <a:ext cx="2207361" cy="20482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31" name="Shape"/>
          <p:cNvSpPr/>
          <p:nvPr/>
        </p:nvSpPr>
        <p:spPr>
          <a:xfrm>
            <a:off x="2593238" y="4828032"/>
            <a:ext cx="75050" cy="204825"/>
          </a:xfrm>
          <a:prstGeom prst="round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2" name="TextBox"/>
          <p:cNvSpPr txBox="1"/>
          <p:nvPr/>
        </p:nvSpPr>
        <p:spPr>
          <a:xfrm>
            <a:off x="4892040" y="4736592"/>
            <a:ext cx="685800" cy="4681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3.40x weight</a:t>
            </a:r>
          </a:p>
        </p:txBody>
      </p:sp>
      <p:sp>
        <p:nvSpPr>
          <p:cNvPr id="33" name="Shape"/>
          <p:cNvSpPr/>
          <p:nvPr/>
        </p:nvSpPr>
        <p:spPr>
          <a:xfrm>
            <a:off x="6080760" y="1691640"/>
            <a:ext cx="493776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34" name="TextBox"/>
          <p:cNvSpPr txBox="1"/>
          <p:nvPr/>
        </p:nvSpPr>
        <p:spPr>
          <a:xfrm>
            <a:off x="6309360" y="19202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Oversampling &amp; Data Augmentation</a:t>
            </a:r>
          </a:p>
        </p:txBody>
      </p:sp>
      <p:sp>
        <p:nvSpPr>
          <p:cNvPr id="35" name="Shape"/>
          <p:cNvSpPr/>
          <p:nvPr/>
        </p:nvSpPr>
        <p:spPr>
          <a:xfrm>
            <a:off x="630936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6" name="TextBox"/>
          <p:cNvSpPr txBox="1"/>
          <p:nvPr/>
        </p:nvSpPr>
        <p:spPr>
          <a:xfrm>
            <a:off x="6510528" y="246888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Oversampling: Applied to minority classes (Healthy, Curl, Bacterial Spot) to balance batch distribution.</a:t>
            </a:r>
          </a:p>
        </p:txBody>
      </p:sp>
      <p:sp>
        <p:nvSpPr>
          <p:cNvPr id="37" name="Shape"/>
          <p:cNvSpPr/>
          <p:nvPr/>
        </p:nvSpPr>
        <p:spPr>
          <a:xfrm>
            <a:off x="630936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8" name="TextBox"/>
          <p:cNvSpPr txBox="1"/>
          <p:nvPr/>
        </p:nvSpPr>
        <p:spPr>
          <a:xfrm>
            <a:off x="6510528" y="320040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Spatial Augmentations: Random rotations, horizontal/vertical flips, and spatial scaling.</a:t>
            </a:r>
          </a:p>
        </p:txBody>
      </p:sp>
      <p:sp>
        <p:nvSpPr>
          <p:cNvPr id="39" name="Shape"/>
          <p:cNvSpPr/>
          <p:nvPr/>
        </p:nvSpPr>
        <p:spPr>
          <a:xfrm>
            <a:off x="630936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40" name="TextBox"/>
          <p:cNvSpPr txBox="1"/>
          <p:nvPr/>
        </p:nvSpPr>
        <p:spPr>
          <a:xfrm>
            <a:off x="6510528" y="393192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Color &amp; Illumination: Brightness and contrast adjustments simulate variable orchard sunlight and shadows.</a:t>
            </a:r>
          </a:p>
        </p:txBody>
      </p:sp>
      <p:sp>
        <p:nvSpPr>
          <p:cNvPr id="41" name="Shape"/>
          <p:cNvSpPr/>
          <p:nvPr/>
        </p:nvSpPr>
        <p:spPr>
          <a:xfrm>
            <a:off x="6309360" y="473659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42" name="TextBox"/>
          <p:cNvSpPr txBox="1"/>
          <p:nvPr/>
        </p:nvSpPr>
        <p:spPr>
          <a:xfrm>
            <a:off x="6510528" y="4663440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Result: Highly balanced classification F1-scores exceeding 94% across all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III. Proposed Two-Stage Cascade Framework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A modular architecture decoupling lesion localization from fine-grained disease classification.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2011680"/>
            <a:ext cx="2286000" cy="1097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TextBox"/>
          <p:cNvSpPr txBox="1"/>
          <p:nvPr/>
        </p:nvSpPr>
        <p:spPr>
          <a:xfrm>
            <a:off x="722376" y="2039112"/>
            <a:ext cx="2212848" cy="1042415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4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1. Input Field Image</a:t>
            </a:r>
          </a:p>
          <a:p>
            <a:pPr algn="ctr"/>
            <a:r>
              <a:rPr lang="en-US" sz="14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(Full Resolution)</a:t>
            </a:r>
          </a:p>
        </p:txBody>
      </p:sp>
      <p:sp>
        <p:nvSpPr>
          <p:cNvPr id="13" name="Shape"/>
          <p:cNvSpPr/>
          <p:nvPr/>
        </p:nvSpPr>
        <p:spPr>
          <a:xfrm>
            <a:off x="3429000" y="2011680"/>
            <a:ext cx="2377440" cy="109728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14" name="TextBox"/>
          <p:cNvSpPr txBox="1"/>
          <p:nvPr/>
        </p:nvSpPr>
        <p:spPr>
          <a:xfrm>
            <a:off x="3465576" y="2039112"/>
            <a:ext cx="2304288" cy="1042415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4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2. Stage 1: YOLOv11m</a:t>
            </a:r>
          </a:p>
          <a:p>
            <a:pPr algn="ctr"/>
            <a:r>
              <a:rPr lang="en-US" sz="14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Lesion Detector</a:t>
            </a:r>
          </a:p>
          <a:p>
            <a:pPr algn="ctr"/>
            <a:r>
              <a:rPr lang="en-US" sz="14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(mAP@0.5 = 77.7%)</a:t>
            </a:r>
          </a:p>
        </p:txBody>
      </p:sp>
      <p:sp>
        <p:nvSpPr>
          <p:cNvPr id="15" name="Shape"/>
          <p:cNvSpPr/>
          <p:nvPr/>
        </p:nvSpPr>
        <p:spPr>
          <a:xfrm>
            <a:off x="6263640" y="2011680"/>
            <a:ext cx="2194560" cy="1097280"/>
          </a:xfrm>
          <a:prstGeom prst="roundRect">
            <a:avLst/>
          </a:prstGeom>
          <a:solidFill>
            <a:srgbClr val="FFF3DE"/>
          </a:solidFill>
          <a:ln w="11000">
            <a:solidFill>
              <a:srgbClr val="E8A13A"/>
            </a:solidFill>
          </a:ln>
        </p:spPr>
      </p:sp>
      <p:sp>
        <p:nvSpPr>
          <p:cNvPr id="16" name="TextBox"/>
          <p:cNvSpPr txBox="1"/>
          <p:nvPr/>
        </p:nvSpPr>
        <p:spPr>
          <a:xfrm>
            <a:off x="6300216" y="2039112"/>
            <a:ext cx="2121408" cy="1042415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4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3. ROI Extraction</a:t>
            </a:r>
          </a:p>
          <a:p>
            <a:pPr algn="ctr"/>
            <a:r>
              <a:rPr lang="en-US" sz="14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Crop &amp; Resize to</a:t>
            </a:r>
          </a:p>
          <a:p>
            <a:pPr algn="ctr"/>
            <a:r>
              <a:rPr lang="en-US" sz="14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260 x 260 x 3</a:t>
            </a:r>
          </a:p>
        </p:txBody>
      </p:sp>
      <p:sp>
        <p:nvSpPr>
          <p:cNvPr id="17" name="Shape"/>
          <p:cNvSpPr/>
          <p:nvPr/>
        </p:nvSpPr>
        <p:spPr>
          <a:xfrm>
            <a:off x="8915400" y="2011680"/>
            <a:ext cx="2103120" cy="109728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18" name="TextBox"/>
          <p:cNvSpPr txBox="1"/>
          <p:nvPr/>
        </p:nvSpPr>
        <p:spPr>
          <a:xfrm>
            <a:off x="8951976" y="2039112"/>
            <a:ext cx="2029967" cy="1042415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4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4. Stage 2: EfficientNet-B2</a:t>
            </a:r>
          </a:p>
          <a:p>
            <a:pPr algn="ctr"/>
            <a:r>
              <a:rPr lang="en-US" sz="14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ROI Classifier</a:t>
            </a:r>
          </a:p>
          <a:p>
            <a:pPr algn="ctr"/>
            <a:r>
              <a:rPr lang="en-US" sz="14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(9.2M Params)</a:t>
            </a:r>
          </a:p>
        </p:txBody>
      </p:sp>
      <p:sp>
        <p:nvSpPr>
          <p:cNvPr id="19" name="Shape"/>
          <p:cNvSpPr/>
          <p:nvPr/>
        </p:nvSpPr>
        <p:spPr>
          <a:xfrm>
            <a:off x="3035808" y="2377440"/>
            <a:ext cx="320040" cy="365760"/>
          </a:xfrm>
          <a:prstGeom prst="round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20" name="TextBox"/>
          <p:cNvSpPr txBox="1"/>
          <p:nvPr/>
        </p:nvSpPr>
        <p:spPr>
          <a:xfrm>
            <a:off x="3072384" y="2404872"/>
            <a:ext cx="2468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8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Shape"/>
          <p:cNvSpPr/>
          <p:nvPr/>
        </p:nvSpPr>
        <p:spPr>
          <a:xfrm>
            <a:off x="5870448" y="2377440"/>
            <a:ext cx="320040" cy="365760"/>
          </a:xfrm>
          <a:prstGeom prst="round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22" name="TextBox"/>
          <p:cNvSpPr txBox="1"/>
          <p:nvPr/>
        </p:nvSpPr>
        <p:spPr>
          <a:xfrm>
            <a:off x="5907024" y="2404872"/>
            <a:ext cx="2468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8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Shape"/>
          <p:cNvSpPr/>
          <p:nvPr/>
        </p:nvSpPr>
        <p:spPr>
          <a:xfrm>
            <a:off x="8522208" y="2377440"/>
            <a:ext cx="320040" cy="365760"/>
          </a:xfrm>
          <a:prstGeom prst="round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8558784" y="2404872"/>
            <a:ext cx="246887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ctr"/>
            <a:r>
              <a:rPr lang="en-US" sz="18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5" name="Shape"/>
          <p:cNvSpPr/>
          <p:nvPr/>
        </p:nvSpPr>
        <p:spPr>
          <a:xfrm>
            <a:off x="685800" y="3474720"/>
            <a:ext cx="10332720" cy="23774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6" name="TextBox"/>
          <p:cNvSpPr txBox="1"/>
          <p:nvPr/>
        </p:nvSpPr>
        <p:spPr>
          <a:xfrm>
            <a:off x="914400" y="36576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Intelligent Global Routing Logic:</a:t>
            </a:r>
          </a:p>
        </p:txBody>
      </p:sp>
      <p:sp>
        <p:nvSpPr>
          <p:cNvPr id="27" name="Shape"/>
          <p:cNvSpPr/>
          <p:nvPr/>
        </p:nvSpPr>
        <p:spPr>
          <a:xfrm>
            <a:off x="914400" y="41879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1115568" y="4114800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If Lesion Bounding Box Detected (Conf &gt;= Threshold) -&gt; Dynamic ROI Crop -&gt; EfficientNet-B2 Disease Classifier.</a:t>
            </a:r>
          </a:p>
        </p:txBody>
      </p:sp>
      <p:sp>
        <p:nvSpPr>
          <p:cNvPr id="29" name="Shape"/>
          <p:cNvSpPr/>
          <p:nvPr/>
        </p:nvSpPr>
        <p:spPr>
          <a:xfrm>
            <a:off x="914400" y="46451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0" name="TextBox"/>
          <p:cNvSpPr txBox="1"/>
          <p:nvPr/>
        </p:nvSpPr>
        <p:spPr>
          <a:xfrm>
            <a:off x="1115568" y="4572000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If NO Lesion Bounding Box Detected -&gt; Automatically route to Healthy / Background diagnosis.</a:t>
            </a:r>
          </a:p>
        </p:txBody>
      </p:sp>
      <p:sp>
        <p:nvSpPr>
          <p:cNvPr id="31" name="Shape"/>
          <p:cNvSpPr/>
          <p:nvPr/>
        </p:nvSpPr>
        <p:spPr>
          <a:xfrm>
            <a:off x="914400" y="51023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2" name="TextBox"/>
          <p:cNvSpPr txBox="1"/>
          <p:nvPr/>
        </p:nvSpPr>
        <p:spPr>
          <a:xfrm>
            <a:off x="1115568" y="5029200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Multi-Lesion Handling -&gt; If multiple spots exist on one leaf, each ROI is classified independently and aggregated.</a:t>
            </a:r>
          </a:p>
        </p:txBody>
      </p:sp>
      <p:sp>
        <p:nvSpPr>
          <p:cNvPr id="33" name="Shape"/>
          <p:cNvSpPr/>
          <p:nvPr/>
        </p:nvSpPr>
        <p:spPr>
          <a:xfrm>
            <a:off x="914400" y="5559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4" name="TextBox"/>
          <p:cNvSpPr txBox="1"/>
          <p:nvPr/>
        </p:nvSpPr>
        <p:spPr>
          <a:xfrm>
            <a:off x="1115568" y="5486400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End-to-End Speed -&gt; Total latency is ~30 to 45 ms per image, fully enabling real-time video processing (&gt;20 FPS).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III. Stage 1 – YOLOv11m Detector Architecture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Why YOLOv11m? Incorporates C3k2 blocks and C2PSA attention for superior multi-scale detection.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32918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3291840" cy="54864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86868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Why YOLOv11m?</a:t>
            </a:r>
          </a:p>
        </p:txBody>
      </p:sp>
      <p:sp>
        <p:nvSpPr>
          <p:cNvPr id="14" name="Shape"/>
          <p:cNvSpPr/>
          <p:nvPr/>
        </p:nvSpPr>
        <p:spPr>
          <a:xfrm>
            <a:off x="86868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5" name="TextBox"/>
          <p:cNvSpPr txBox="1"/>
          <p:nvPr/>
        </p:nvSpPr>
        <p:spPr>
          <a:xfrm>
            <a:off x="106984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Latest advancement in the Ultralytics YOLO family.</a:t>
            </a:r>
          </a:p>
        </p:txBody>
      </p:sp>
      <p:sp>
        <p:nvSpPr>
          <p:cNvPr id="16" name="Shape"/>
          <p:cNvSpPr/>
          <p:nvPr/>
        </p:nvSpPr>
        <p:spPr>
          <a:xfrm>
            <a:off x="86868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106984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Achieves superior balance between accuracy, efficiency, and real-time speed.</a:t>
            </a:r>
          </a:p>
        </p:txBody>
      </p:sp>
      <p:sp>
        <p:nvSpPr>
          <p:cNvPr id="18" name="Shape"/>
          <p:cNvSpPr/>
          <p:nvPr/>
        </p:nvSpPr>
        <p:spPr>
          <a:xfrm>
            <a:off x="86868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9" name="TextBox"/>
          <p:cNvSpPr txBox="1"/>
          <p:nvPr/>
        </p:nvSpPr>
        <p:spPr>
          <a:xfrm>
            <a:off x="106984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Inference time: only 29.66 ms per image.</a:t>
            </a:r>
          </a:p>
        </p:txBody>
      </p:sp>
      <p:sp>
        <p:nvSpPr>
          <p:cNvPr id="20" name="Shape"/>
          <p:cNvSpPr/>
          <p:nvPr/>
        </p:nvSpPr>
        <p:spPr>
          <a:xfrm>
            <a:off x="4206240" y="1691640"/>
            <a:ext cx="32918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1" name="Shape"/>
          <p:cNvSpPr/>
          <p:nvPr/>
        </p:nvSpPr>
        <p:spPr>
          <a:xfrm>
            <a:off x="4206240" y="1691640"/>
            <a:ext cx="3291840" cy="54864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22" name="TextBox"/>
          <p:cNvSpPr txBox="1"/>
          <p:nvPr/>
        </p:nvSpPr>
        <p:spPr>
          <a:xfrm>
            <a:off x="438912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C3k2 Block Innovation</a:t>
            </a:r>
          </a:p>
        </p:txBody>
      </p:sp>
      <p:sp>
        <p:nvSpPr>
          <p:cNvPr id="23" name="Shape"/>
          <p:cNvSpPr/>
          <p:nvPr/>
        </p:nvSpPr>
        <p:spPr>
          <a:xfrm>
            <a:off x="438912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459028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Enhanced feature extraction capability with variable kernel sizes.</a:t>
            </a:r>
          </a:p>
        </p:txBody>
      </p:sp>
      <p:sp>
        <p:nvSpPr>
          <p:cNvPr id="25" name="Shape"/>
          <p:cNvSpPr/>
          <p:nvPr/>
        </p:nvSpPr>
        <p:spPr>
          <a:xfrm>
            <a:off x="438912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459028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Captures discriminative spatial features across scales.</a:t>
            </a:r>
          </a:p>
        </p:txBody>
      </p:sp>
      <p:sp>
        <p:nvSpPr>
          <p:cNvPr id="27" name="Shape"/>
          <p:cNvSpPr/>
          <p:nvPr/>
        </p:nvSpPr>
        <p:spPr>
          <a:xfrm>
            <a:off x="438912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459028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Effective for both tiny early-stage spots and large blight lesions.</a:t>
            </a:r>
          </a:p>
        </p:txBody>
      </p:sp>
      <p:sp>
        <p:nvSpPr>
          <p:cNvPr id="29" name="Shape"/>
          <p:cNvSpPr/>
          <p:nvPr/>
        </p:nvSpPr>
        <p:spPr>
          <a:xfrm>
            <a:off x="7726679" y="1691640"/>
            <a:ext cx="32918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30" name="Shape"/>
          <p:cNvSpPr/>
          <p:nvPr/>
        </p:nvSpPr>
        <p:spPr>
          <a:xfrm>
            <a:off x="7726679" y="1691640"/>
            <a:ext cx="3291840" cy="548640"/>
          </a:xfrm>
          <a:prstGeom prst="roundRect">
            <a:avLst/>
          </a:prstGeom>
          <a:solidFill>
            <a:srgbClr val="FFF3DE"/>
          </a:solidFill>
          <a:ln w="11000">
            <a:solidFill>
              <a:srgbClr val="E8A13A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790956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C2PSA Spatial Attention</a:t>
            </a:r>
          </a:p>
        </p:txBody>
      </p:sp>
      <p:sp>
        <p:nvSpPr>
          <p:cNvPr id="32" name="Shape"/>
          <p:cNvSpPr/>
          <p:nvPr/>
        </p:nvSpPr>
        <p:spPr>
          <a:xfrm>
            <a:off x="790956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3" name="TextBox"/>
          <p:cNvSpPr txBox="1"/>
          <p:nvPr/>
        </p:nvSpPr>
        <p:spPr>
          <a:xfrm>
            <a:off x="811072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Cross-Stage Partial Spatial Attention mechanism.</a:t>
            </a:r>
          </a:p>
        </p:txBody>
      </p:sp>
      <p:sp>
        <p:nvSpPr>
          <p:cNvPr id="34" name="Shape"/>
          <p:cNvSpPr/>
          <p:nvPr/>
        </p:nvSpPr>
        <p:spPr>
          <a:xfrm>
            <a:off x="790956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5" name="TextBox"/>
          <p:cNvSpPr txBox="1"/>
          <p:nvPr/>
        </p:nvSpPr>
        <p:spPr>
          <a:xfrm>
            <a:off x="811072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Forces model to focus sharply on disease lesion boundaries.</a:t>
            </a:r>
          </a:p>
        </p:txBody>
      </p:sp>
      <p:sp>
        <p:nvSpPr>
          <p:cNvPr id="36" name="Shape"/>
          <p:cNvSpPr/>
          <p:nvPr/>
        </p:nvSpPr>
        <p:spPr>
          <a:xfrm>
            <a:off x="790956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7" name="TextBox"/>
          <p:cNvSpPr txBox="1"/>
          <p:nvPr/>
        </p:nvSpPr>
        <p:spPr>
          <a:xfrm>
            <a:off x="811072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Actively suppresses background noise, leaf veins, and overlapping foliage.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III. Stage 2 – EfficientNet-B2 Classifier Architecture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Lightweight, farm-ready scalability: achieving 80.1% ImageNet accuracy with only 9.2M parameters.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3200400" cy="1097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82296" cy="109728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3" name="TextBox"/>
          <p:cNvSpPr txBox="1"/>
          <p:nvPr/>
        </p:nvSpPr>
        <p:spPr>
          <a:xfrm>
            <a:off x="896112" y="182880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80.1%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896112" y="22860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ImageNet Top-1 accuracy</a:t>
            </a:r>
          </a:p>
        </p:txBody>
      </p:sp>
      <p:sp>
        <p:nvSpPr>
          <p:cNvPr id="15" name="Shape"/>
          <p:cNvSpPr/>
          <p:nvPr/>
        </p:nvSpPr>
        <p:spPr>
          <a:xfrm>
            <a:off x="685800" y="2971800"/>
            <a:ext cx="3200400" cy="1097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6" name="Shape"/>
          <p:cNvSpPr/>
          <p:nvPr/>
        </p:nvSpPr>
        <p:spPr>
          <a:xfrm>
            <a:off x="685800" y="2971800"/>
            <a:ext cx="82296" cy="109728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896112" y="310896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F6FB6"/>
                </a:solidFill>
                <a:latin typeface="Aptos Display"/>
                <a:ea typeface="Aptos Display"/>
                <a:cs typeface="Aptos Display"/>
              </a:rPr>
              <a:t>9.2M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896112" y="356616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Parameters (5-6x smaller than ResNet)</a:t>
            </a:r>
          </a:p>
        </p:txBody>
      </p:sp>
      <p:sp>
        <p:nvSpPr>
          <p:cNvPr id="19" name="Shape"/>
          <p:cNvSpPr/>
          <p:nvPr/>
        </p:nvSpPr>
        <p:spPr>
          <a:xfrm>
            <a:off x="685800" y="4251960"/>
            <a:ext cx="3200400" cy="10972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0" name="Shape"/>
          <p:cNvSpPr/>
          <p:nvPr/>
        </p:nvSpPr>
        <p:spPr>
          <a:xfrm>
            <a:off x="685800" y="4251960"/>
            <a:ext cx="82296" cy="109728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1" name="TextBox"/>
          <p:cNvSpPr txBox="1"/>
          <p:nvPr/>
        </p:nvSpPr>
        <p:spPr>
          <a:xfrm>
            <a:off x="896112" y="438912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E8A13A"/>
                </a:solidFill>
                <a:latin typeface="Aptos Display"/>
                <a:ea typeface="Aptos Display"/>
                <a:cs typeface="Aptos Display"/>
              </a:rPr>
              <a:t>1.0B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896112" y="48463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FLOPs (13x faster than Inception)</a:t>
            </a:r>
          </a:p>
        </p:txBody>
      </p:sp>
      <p:sp>
        <p:nvSpPr>
          <p:cNvPr id="23" name="Shape"/>
          <p:cNvSpPr/>
          <p:nvPr/>
        </p:nvSpPr>
        <p:spPr>
          <a:xfrm>
            <a:off x="4206240" y="1691640"/>
            <a:ext cx="6812280" cy="36576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4" name="Shape"/>
          <p:cNvSpPr/>
          <p:nvPr/>
        </p:nvSpPr>
        <p:spPr>
          <a:xfrm>
            <a:off x="4206240" y="1691640"/>
            <a:ext cx="6812280" cy="54864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25" name="TextBox"/>
          <p:cNvSpPr txBox="1"/>
          <p:nvPr/>
        </p:nvSpPr>
        <p:spPr>
          <a:xfrm>
            <a:off x="4434840" y="1828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Core Technological Pillars for Farm Scalability</a:t>
            </a:r>
          </a:p>
        </p:txBody>
      </p:sp>
      <p:sp>
        <p:nvSpPr>
          <p:cNvPr id="26" name="Shape"/>
          <p:cNvSpPr/>
          <p:nvPr/>
        </p:nvSpPr>
        <p:spPr>
          <a:xfrm>
            <a:off x="4434840" y="249631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7" name="TextBox"/>
          <p:cNvSpPr txBox="1"/>
          <p:nvPr/>
        </p:nvSpPr>
        <p:spPr>
          <a:xfrm>
            <a:off x="4636007" y="2423160"/>
            <a:ext cx="6108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Compound Scaling: Principled scaling of network depth (d = a^phi), width (w = b^phi), and resolution (r = g^phi) simultaneously.</a:t>
            </a:r>
          </a:p>
        </p:txBody>
      </p:sp>
      <p:sp>
        <p:nvSpPr>
          <p:cNvPr id="28" name="Shape"/>
          <p:cNvSpPr/>
          <p:nvPr/>
        </p:nvSpPr>
        <p:spPr>
          <a:xfrm>
            <a:off x="4434840" y="32278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9" name="TextBox"/>
          <p:cNvSpPr txBox="1"/>
          <p:nvPr/>
        </p:nvSpPr>
        <p:spPr>
          <a:xfrm>
            <a:off x="4636007" y="3154680"/>
            <a:ext cx="6108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MBConv Blocks: Mobile Inverted Bottleneck Convolutions with depthwise separable convolutions — reducing computation by k^2 times.</a:t>
            </a:r>
          </a:p>
        </p:txBody>
      </p:sp>
      <p:sp>
        <p:nvSpPr>
          <p:cNvPr id="30" name="Shape"/>
          <p:cNvSpPr/>
          <p:nvPr/>
        </p:nvSpPr>
        <p:spPr>
          <a:xfrm>
            <a:off x="4434840" y="39593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1" name="TextBox"/>
          <p:cNvSpPr txBox="1"/>
          <p:nvPr/>
        </p:nvSpPr>
        <p:spPr>
          <a:xfrm>
            <a:off x="4636007" y="3886200"/>
            <a:ext cx="6108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Why EfficientNet-B2?: Orchards contain thousands of trees. This compact footprint enables high-speed deployment on agricultural drones, mobile phones, and edge IoT devices without heavy hardware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III. End-to-End Inference &amp; Multi-Lesion Logic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Robust decision rules handle variable lesion counts and environmental background seamlessly.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3291840" cy="393192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3291840" cy="54864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86868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0 Lesions Detected</a:t>
            </a:r>
          </a:p>
        </p:txBody>
      </p:sp>
      <p:sp>
        <p:nvSpPr>
          <p:cNvPr id="14" name="Shape"/>
          <p:cNvSpPr/>
          <p:nvPr/>
        </p:nvSpPr>
        <p:spPr>
          <a:xfrm>
            <a:off x="86868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5" name="TextBox"/>
          <p:cNvSpPr txBox="1"/>
          <p:nvPr/>
        </p:nvSpPr>
        <p:spPr>
          <a:xfrm>
            <a:off x="106984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Condition: YOLO detects no boxes above threshold.</a:t>
            </a:r>
          </a:p>
        </p:txBody>
      </p:sp>
      <p:sp>
        <p:nvSpPr>
          <p:cNvPr id="16" name="Shape"/>
          <p:cNvSpPr/>
          <p:nvPr/>
        </p:nvSpPr>
        <p:spPr>
          <a:xfrm>
            <a:off x="86868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106984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Diagnosis: Healthy / Background.</a:t>
            </a:r>
          </a:p>
        </p:txBody>
      </p:sp>
      <p:sp>
        <p:nvSpPr>
          <p:cNvPr id="18" name="Shape"/>
          <p:cNvSpPr/>
          <p:nvPr/>
        </p:nvSpPr>
        <p:spPr>
          <a:xfrm>
            <a:off x="86868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9" name="TextBox"/>
          <p:cNvSpPr txBox="1"/>
          <p:nvPr/>
        </p:nvSpPr>
        <p:spPr>
          <a:xfrm>
            <a:off x="106984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Benefit: Automatically filters out soil, stones, and healthy leaves without false alarms.</a:t>
            </a:r>
          </a:p>
        </p:txBody>
      </p:sp>
      <p:sp>
        <p:nvSpPr>
          <p:cNvPr id="20" name="Shape"/>
          <p:cNvSpPr/>
          <p:nvPr/>
        </p:nvSpPr>
        <p:spPr>
          <a:xfrm>
            <a:off x="4206240" y="1691640"/>
            <a:ext cx="3291840" cy="393192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1" name="Shape"/>
          <p:cNvSpPr/>
          <p:nvPr/>
        </p:nvSpPr>
        <p:spPr>
          <a:xfrm>
            <a:off x="4206240" y="1691640"/>
            <a:ext cx="3291840" cy="54864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22" name="TextBox"/>
          <p:cNvSpPr txBox="1"/>
          <p:nvPr/>
        </p:nvSpPr>
        <p:spPr>
          <a:xfrm>
            <a:off x="438912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1 Lesion Detected</a:t>
            </a:r>
          </a:p>
        </p:txBody>
      </p:sp>
      <p:sp>
        <p:nvSpPr>
          <p:cNvPr id="23" name="Shape"/>
          <p:cNvSpPr/>
          <p:nvPr/>
        </p:nvSpPr>
        <p:spPr>
          <a:xfrm>
            <a:off x="438912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459028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Condition: Single lesion localized on leaf.</a:t>
            </a:r>
          </a:p>
        </p:txBody>
      </p:sp>
      <p:sp>
        <p:nvSpPr>
          <p:cNvPr id="25" name="Shape"/>
          <p:cNvSpPr/>
          <p:nvPr/>
        </p:nvSpPr>
        <p:spPr>
          <a:xfrm>
            <a:off x="438912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459028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Diagnosis: EfficientNet-B2 classifies cropped ROI.</a:t>
            </a:r>
          </a:p>
        </p:txBody>
      </p:sp>
      <p:sp>
        <p:nvSpPr>
          <p:cNvPr id="27" name="Shape"/>
          <p:cNvSpPr/>
          <p:nvPr/>
        </p:nvSpPr>
        <p:spPr>
          <a:xfrm>
            <a:off x="438912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459028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Benefit: Isolates lesion from leaf veins and background clutter.</a:t>
            </a:r>
          </a:p>
        </p:txBody>
      </p:sp>
      <p:sp>
        <p:nvSpPr>
          <p:cNvPr id="29" name="Shape"/>
          <p:cNvSpPr/>
          <p:nvPr/>
        </p:nvSpPr>
        <p:spPr>
          <a:xfrm>
            <a:off x="7726679" y="1691640"/>
            <a:ext cx="3291840" cy="393192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30" name="Shape"/>
          <p:cNvSpPr/>
          <p:nvPr/>
        </p:nvSpPr>
        <p:spPr>
          <a:xfrm>
            <a:off x="7726679" y="1691640"/>
            <a:ext cx="3291840" cy="548640"/>
          </a:xfrm>
          <a:prstGeom prst="roundRect">
            <a:avLst/>
          </a:prstGeom>
          <a:solidFill>
            <a:srgbClr val="FFF3DE"/>
          </a:solidFill>
          <a:ln w="11000">
            <a:solidFill>
              <a:srgbClr val="E8A13A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790956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&gt;1 Lesions Detected</a:t>
            </a:r>
          </a:p>
        </p:txBody>
      </p:sp>
      <p:sp>
        <p:nvSpPr>
          <p:cNvPr id="32" name="Shape"/>
          <p:cNvSpPr/>
          <p:nvPr/>
        </p:nvSpPr>
        <p:spPr>
          <a:xfrm>
            <a:off x="790956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3" name="TextBox"/>
          <p:cNvSpPr txBox="1"/>
          <p:nvPr/>
        </p:nvSpPr>
        <p:spPr>
          <a:xfrm>
            <a:off x="811072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Condition: Co-infection or multiple spots on one leaf.</a:t>
            </a:r>
          </a:p>
        </p:txBody>
      </p:sp>
      <p:sp>
        <p:nvSpPr>
          <p:cNvPr id="34" name="Shape"/>
          <p:cNvSpPr/>
          <p:nvPr/>
        </p:nvSpPr>
        <p:spPr>
          <a:xfrm>
            <a:off x="790956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5" name="TextBox"/>
          <p:cNvSpPr txBox="1"/>
          <p:nvPr/>
        </p:nvSpPr>
        <p:spPr>
          <a:xfrm>
            <a:off x="811072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Diagnosis: Crop all N ROIs -&gt; Classify independently.</a:t>
            </a:r>
          </a:p>
        </p:txBody>
      </p:sp>
      <p:sp>
        <p:nvSpPr>
          <p:cNvPr id="36" name="Shape"/>
          <p:cNvSpPr/>
          <p:nvPr/>
        </p:nvSpPr>
        <p:spPr>
          <a:xfrm>
            <a:off x="790956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7" name="TextBox"/>
          <p:cNvSpPr txBox="1"/>
          <p:nvPr/>
        </p:nvSpPr>
        <p:spPr>
          <a:xfrm>
            <a:off x="811072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Aggregation: Output highest confidence or highest clinical severity.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IV. Experimental Results: Stage 1 Detector Evaluation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YOLOv11m achieved the best mAP@0.5 (77.67%), providing reliable localized ROIs for Stage 2.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1709928"/>
            <a:ext cx="2057400" cy="5364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YOLOv11m (Selected)</a:t>
            </a:r>
          </a:p>
        </p:txBody>
      </p:sp>
      <p:sp>
        <p:nvSpPr>
          <p:cNvPr id="12" name="Shape"/>
          <p:cNvSpPr/>
          <p:nvPr/>
        </p:nvSpPr>
        <p:spPr>
          <a:xfrm>
            <a:off x="2788920" y="1801368"/>
            <a:ext cx="3063240" cy="234696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2788920" y="1801368"/>
            <a:ext cx="2379218" cy="234696"/>
          </a:xfrm>
          <a:prstGeom prst="round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4" name="TextBox"/>
          <p:cNvSpPr txBox="1"/>
          <p:nvPr/>
        </p:nvSpPr>
        <p:spPr>
          <a:xfrm>
            <a:off x="5943600" y="1709928"/>
            <a:ext cx="685800" cy="5364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77.67%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85800" y="2380488"/>
            <a:ext cx="2057400" cy="5364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YOLOv11s</a:t>
            </a:r>
          </a:p>
        </p:txBody>
      </p:sp>
      <p:sp>
        <p:nvSpPr>
          <p:cNvPr id="16" name="Shape"/>
          <p:cNvSpPr/>
          <p:nvPr/>
        </p:nvSpPr>
        <p:spPr>
          <a:xfrm>
            <a:off x="2788920" y="2471928"/>
            <a:ext cx="3063240" cy="234696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7" name="Shape"/>
          <p:cNvSpPr/>
          <p:nvPr/>
        </p:nvSpPr>
        <p:spPr>
          <a:xfrm>
            <a:off x="2788920" y="2471928"/>
            <a:ext cx="2345522" cy="234696"/>
          </a:xfrm>
          <a:prstGeom prst="round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18" name="TextBox"/>
          <p:cNvSpPr txBox="1"/>
          <p:nvPr/>
        </p:nvSpPr>
        <p:spPr>
          <a:xfrm>
            <a:off x="5943600" y="2380488"/>
            <a:ext cx="685800" cy="5364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76.57%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5800" y="3051048"/>
            <a:ext cx="2057400" cy="5364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YOLOv11n</a:t>
            </a:r>
          </a:p>
        </p:txBody>
      </p:sp>
      <p:sp>
        <p:nvSpPr>
          <p:cNvPr id="20" name="Shape"/>
          <p:cNvSpPr/>
          <p:nvPr/>
        </p:nvSpPr>
        <p:spPr>
          <a:xfrm>
            <a:off x="2788920" y="3142488"/>
            <a:ext cx="3063240" cy="234696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1" name="Shape"/>
          <p:cNvSpPr/>
          <p:nvPr/>
        </p:nvSpPr>
        <p:spPr>
          <a:xfrm>
            <a:off x="2788920" y="3142488"/>
            <a:ext cx="2288546" cy="234696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2" name="TextBox"/>
          <p:cNvSpPr txBox="1"/>
          <p:nvPr/>
        </p:nvSpPr>
        <p:spPr>
          <a:xfrm>
            <a:off x="5943600" y="3051048"/>
            <a:ext cx="685800" cy="536448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74.71%</a:t>
            </a:r>
          </a:p>
        </p:txBody>
      </p:sp>
      <p:sp>
        <p:nvSpPr>
          <p:cNvPr id="23" name="Shape"/>
          <p:cNvSpPr/>
          <p:nvPr/>
        </p:nvSpPr>
        <p:spPr>
          <a:xfrm>
            <a:off x="6949440" y="1691640"/>
            <a:ext cx="4069080" cy="9144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4" name="Shape"/>
          <p:cNvSpPr/>
          <p:nvPr/>
        </p:nvSpPr>
        <p:spPr>
          <a:xfrm>
            <a:off x="6949440" y="1691640"/>
            <a:ext cx="82296" cy="91440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25" name="TextBox"/>
          <p:cNvSpPr txBox="1"/>
          <p:nvPr/>
        </p:nvSpPr>
        <p:spPr>
          <a:xfrm>
            <a:off x="7159752" y="182880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F6FB6"/>
                </a:solidFill>
                <a:latin typeface="Aptos Display"/>
                <a:ea typeface="Aptos Display"/>
                <a:cs typeface="Aptos Display"/>
              </a:rPr>
              <a:t>0.802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7159752" y="22860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Precision (YOLOv11m)</a:t>
            </a:r>
          </a:p>
        </p:txBody>
      </p:sp>
      <p:sp>
        <p:nvSpPr>
          <p:cNvPr id="27" name="Shape"/>
          <p:cNvSpPr/>
          <p:nvPr/>
        </p:nvSpPr>
        <p:spPr>
          <a:xfrm>
            <a:off x="6949440" y="2788920"/>
            <a:ext cx="4069080" cy="9144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8" name="Shape"/>
          <p:cNvSpPr/>
          <p:nvPr/>
        </p:nvSpPr>
        <p:spPr>
          <a:xfrm>
            <a:off x="6949440" y="2788920"/>
            <a:ext cx="82296" cy="91440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9" name="TextBox"/>
          <p:cNvSpPr txBox="1"/>
          <p:nvPr/>
        </p:nvSpPr>
        <p:spPr>
          <a:xfrm>
            <a:off x="7159752" y="2926079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 lIns="80000" rIns="80000" tIns="50000" bIns="50000">
            <a:spAutoFit/>
          </a:bodyPr>
          <a:lstStyle/>
          <a:p>
            <a:pPr algn="l"/>
            <a:r>
              <a:rPr lang="en-US" sz="2400" b="1">
                <a:solidFill>
                  <a:srgbClr val="2E7D55"/>
                </a:solidFill>
                <a:latin typeface="Aptos Display"/>
                <a:ea typeface="Aptos Display"/>
                <a:cs typeface="Aptos Display"/>
              </a:rPr>
              <a:t>0.816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7159752" y="3383279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Recall (YOLOv11m)</a:t>
            </a:r>
          </a:p>
        </p:txBody>
      </p:sp>
      <p:sp>
        <p:nvSpPr>
          <p:cNvPr id="31" name="Shape"/>
          <p:cNvSpPr/>
          <p:nvPr/>
        </p:nvSpPr>
        <p:spPr>
          <a:xfrm>
            <a:off x="685800" y="3931920"/>
            <a:ext cx="10332720" cy="19202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32" name="TextBox"/>
          <p:cNvSpPr txBox="1"/>
          <p:nvPr/>
        </p:nvSpPr>
        <p:spPr>
          <a:xfrm>
            <a:off x="914400" y="4114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Analysis of Detection Performance across Disease Classes:</a:t>
            </a:r>
          </a:p>
        </p:txBody>
      </p:sp>
      <p:sp>
        <p:nvSpPr>
          <p:cNvPr id="33" name="Shape"/>
          <p:cNvSpPr/>
          <p:nvPr/>
        </p:nvSpPr>
        <p:spPr>
          <a:xfrm>
            <a:off x="914400" y="46451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4" name="TextBox"/>
          <p:cNvSpPr txBox="1"/>
          <p:nvPr/>
        </p:nvSpPr>
        <p:spPr>
          <a:xfrm>
            <a:off x="1115568" y="4572000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Near-Perfect Localization: Bacterial Spot (99.3% mAP@0.5) and Leaf Curl (99.5% mAP@0.5) exhibit distinct visual features.</a:t>
            </a:r>
          </a:p>
        </p:txBody>
      </p:sp>
      <p:sp>
        <p:nvSpPr>
          <p:cNvPr id="35" name="Shape"/>
          <p:cNvSpPr/>
          <p:nvPr/>
        </p:nvSpPr>
        <p:spPr>
          <a:xfrm>
            <a:off x="914400" y="50566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6" name="TextBox"/>
          <p:cNvSpPr txBox="1"/>
          <p:nvPr/>
        </p:nvSpPr>
        <p:spPr>
          <a:xfrm>
            <a:off x="1115568" y="4983480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Challenging Classes: Anthracnose (51.5%) and Ring Spot (60.4%) showed lower detection scores due to small lesion size and irregular distribution.</a:t>
            </a:r>
          </a:p>
        </p:txBody>
      </p:sp>
      <p:sp>
        <p:nvSpPr>
          <p:cNvPr id="37" name="Shape"/>
          <p:cNvSpPr/>
          <p:nvPr/>
        </p:nvSpPr>
        <p:spPr>
          <a:xfrm>
            <a:off x="914400" y="546811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8" name="TextBox"/>
          <p:cNvSpPr txBox="1"/>
          <p:nvPr/>
        </p:nvSpPr>
        <p:spPr>
          <a:xfrm>
            <a:off x="1115568" y="5394960"/>
            <a:ext cx="967435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Cascade Advantage: Even if Stage 1 localization is imperfect, cropping the ROI successfully removes enough background to let Stage 2 classify with &gt;93% accuracy!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IV. Experimental Results: Full Cascade vs. Baselines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Conclusively proving the ROI cropping advantage: +2.07% accuracy boost over full-image baseline!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1709928"/>
            <a:ext cx="20574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Whole-Image Baseline</a:t>
            </a:r>
          </a:p>
        </p:txBody>
      </p:sp>
      <p:sp>
        <p:nvSpPr>
          <p:cNvPr id="12" name="Shape"/>
          <p:cNvSpPr/>
          <p:nvPr/>
        </p:nvSpPr>
        <p:spPr>
          <a:xfrm>
            <a:off x="2788920" y="1801368"/>
            <a:ext cx="3337560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2788920" y="1801368"/>
            <a:ext cx="3096588" cy="281635"/>
          </a:xfrm>
          <a:prstGeom prst="roundRect">
            <a:avLst/>
          </a:prstGeom>
          <a:solidFill>
            <a:srgbClr val="5B6B5F"/>
          </a:solidFill>
          <a:ln>
            <a:noFill/>
          </a:ln>
        </p:spPr>
      </p:sp>
      <p:sp>
        <p:nvSpPr>
          <p:cNvPr id="14" name="TextBox"/>
          <p:cNvSpPr txBox="1"/>
          <p:nvPr/>
        </p:nvSpPr>
        <p:spPr>
          <a:xfrm>
            <a:off x="6217919" y="1709928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92.78%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85800" y="2514600"/>
            <a:ext cx="20574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YOLOv11m + VGG16</a:t>
            </a:r>
          </a:p>
        </p:txBody>
      </p:sp>
      <p:sp>
        <p:nvSpPr>
          <p:cNvPr id="16" name="Shape"/>
          <p:cNvSpPr/>
          <p:nvPr/>
        </p:nvSpPr>
        <p:spPr>
          <a:xfrm>
            <a:off x="2788920" y="2606040"/>
            <a:ext cx="3337560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7" name="Shape"/>
          <p:cNvSpPr/>
          <p:nvPr/>
        </p:nvSpPr>
        <p:spPr>
          <a:xfrm>
            <a:off x="2788920" y="2606040"/>
            <a:ext cx="3119617" cy="281635"/>
          </a:xfrm>
          <a:prstGeom prst="roundRect">
            <a:avLst/>
          </a:prstGeom>
          <a:solidFill>
            <a:srgbClr val="C94A45"/>
          </a:solidFill>
          <a:ln>
            <a:noFill/>
          </a:ln>
        </p:spPr>
      </p:sp>
      <p:sp>
        <p:nvSpPr>
          <p:cNvPr id="18" name="TextBox"/>
          <p:cNvSpPr txBox="1"/>
          <p:nvPr/>
        </p:nvSpPr>
        <p:spPr>
          <a:xfrm>
            <a:off x="6217919" y="2514600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93.47%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5800" y="3319272"/>
            <a:ext cx="20574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YOLOv11m + DenseNet121</a:t>
            </a:r>
          </a:p>
        </p:txBody>
      </p:sp>
      <p:sp>
        <p:nvSpPr>
          <p:cNvPr id="20" name="Shape"/>
          <p:cNvSpPr/>
          <p:nvPr/>
        </p:nvSpPr>
        <p:spPr>
          <a:xfrm>
            <a:off x="2788920" y="3410712"/>
            <a:ext cx="3337560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1" name="Shape"/>
          <p:cNvSpPr/>
          <p:nvPr/>
        </p:nvSpPr>
        <p:spPr>
          <a:xfrm>
            <a:off x="2788920" y="3410712"/>
            <a:ext cx="3142646" cy="281635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2" name="TextBox"/>
          <p:cNvSpPr txBox="1"/>
          <p:nvPr/>
        </p:nvSpPr>
        <p:spPr>
          <a:xfrm>
            <a:off x="6217919" y="3319272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94.16%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685800" y="4123944"/>
            <a:ext cx="20574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YOLOv11m + ResNet50</a:t>
            </a:r>
          </a:p>
        </p:txBody>
      </p:sp>
      <p:sp>
        <p:nvSpPr>
          <p:cNvPr id="24" name="Shape"/>
          <p:cNvSpPr/>
          <p:nvPr/>
        </p:nvSpPr>
        <p:spPr>
          <a:xfrm>
            <a:off x="2788920" y="4215384"/>
            <a:ext cx="3337560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5" name="Shape"/>
          <p:cNvSpPr/>
          <p:nvPr/>
        </p:nvSpPr>
        <p:spPr>
          <a:xfrm>
            <a:off x="2788920" y="4215384"/>
            <a:ext cx="3153994" cy="281635"/>
          </a:xfrm>
          <a:prstGeom prst="round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6217919" y="4123944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94.50%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685800" y="4928616"/>
            <a:ext cx="20574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YOLOv11m + EfficientNetB2</a:t>
            </a:r>
          </a:p>
        </p:txBody>
      </p:sp>
      <p:sp>
        <p:nvSpPr>
          <p:cNvPr id="28" name="Shape"/>
          <p:cNvSpPr/>
          <p:nvPr/>
        </p:nvSpPr>
        <p:spPr>
          <a:xfrm>
            <a:off x="2788920" y="5020056"/>
            <a:ext cx="3337560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9" name="Shape"/>
          <p:cNvSpPr/>
          <p:nvPr/>
        </p:nvSpPr>
        <p:spPr>
          <a:xfrm>
            <a:off x="2788920" y="5020056"/>
            <a:ext cx="3165675" cy="281635"/>
          </a:xfrm>
          <a:prstGeom prst="round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0" name="TextBox"/>
          <p:cNvSpPr txBox="1"/>
          <p:nvPr/>
        </p:nvSpPr>
        <p:spPr>
          <a:xfrm>
            <a:off x="6217919" y="4928616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94.85%</a:t>
            </a:r>
          </a:p>
        </p:txBody>
      </p:sp>
      <p:sp>
        <p:nvSpPr>
          <p:cNvPr id="31" name="Shape"/>
          <p:cNvSpPr/>
          <p:nvPr/>
        </p:nvSpPr>
        <p:spPr>
          <a:xfrm>
            <a:off x="7132320" y="1691640"/>
            <a:ext cx="3886200" cy="40233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32" name="Shape"/>
          <p:cNvSpPr/>
          <p:nvPr/>
        </p:nvSpPr>
        <p:spPr>
          <a:xfrm>
            <a:off x="7132320" y="1691640"/>
            <a:ext cx="3886200" cy="73152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33" name="TextBox"/>
          <p:cNvSpPr txBox="1"/>
          <p:nvPr/>
        </p:nvSpPr>
        <p:spPr>
          <a:xfrm>
            <a:off x="7360920" y="1874519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🏆 Scientific Proof of Concept</a:t>
            </a:r>
          </a:p>
        </p:txBody>
      </p:sp>
      <p:sp>
        <p:nvSpPr>
          <p:cNvPr id="34" name="Shape"/>
          <p:cNvSpPr/>
          <p:nvPr/>
        </p:nvSpPr>
        <p:spPr>
          <a:xfrm>
            <a:off x="7360920" y="267919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5" name="TextBox"/>
          <p:cNvSpPr txBox="1"/>
          <p:nvPr/>
        </p:nvSpPr>
        <p:spPr>
          <a:xfrm>
            <a:off x="7562088" y="2606040"/>
            <a:ext cx="3273551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Why did Accuracy jump from 92.78% to 94.85%?</a:t>
            </a:r>
          </a:p>
        </p:txBody>
      </p:sp>
      <p:sp>
        <p:nvSpPr>
          <p:cNvPr id="36" name="Shape"/>
          <p:cNvSpPr/>
          <p:nvPr/>
        </p:nvSpPr>
        <p:spPr>
          <a:xfrm>
            <a:off x="7360920" y="341071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7" name="TextBox"/>
          <p:cNvSpPr txBox="1"/>
          <p:nvPr/>
        </p:nvSpPr>
        <p:spPr>
          <a:xfrm>
            <a:off x="7562088" y="3337560"/>
            <a:ext cx="3273551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Using the exact same EfficientNet-B2 backbone, cropping ROIs stripped away soil, stones, and background clutter.</a:t>
            </a:r>
          </a:p>
        </p:txBody>
      </p:sp>
      <p:sp>
        <p:nvSpPr>
          <p:cNvPr id="38" name="Shape"/>
          <p:cNvSpPr/>
          <p:nvPr/>
        </p:nvSpPr>
        <p:spPr>
          <a:xfrm>
            <a:off x="7360920" y="41422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9" name="TextBox"/>
          <p:cNvSpPr txBox="1"/>
          <p:nvPr/>
        </p:nvSpPr>
        <p:spPr>
          <a:xfrm>
            <a:off x="7562088" y="4069080"/>
            <a:ext cx="3273551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This allowed the classifier to focus 100% on lesion morphology.</a:t>
            </a:r>
          </a:p>
        </p:txBody>
      </p:sp>
      <p:sp>
        <p:nvSpPr>
          <p:cNvPr id="40" name="Shape"/>
          <p:cNvSpPr/>
          <p:nvPr/>
        </p:nvSpPr>
        <p:spPr>
          <a:xfrm>
            <a:off x="7360920" y="48737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41" name="TextBox"/>
          <p:cNvSpPr txBox="1"/>
          <p:nvPr/>
        </p:nvSpPr>
        <p:spPr>
          <a:xfrm>
            <a:off x="7562088" y="4800600"/>
            <a:ext cx="3273551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EfficientNet-B2 outperformed VGG16, DenseNet121, and ResNet50 inside the cascade due to MBConv representations.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IV. Class-Wise Performance &amp; Confusion Matrix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276 correct predictions out of 291 test images — achieving strong diagonal stability across all classes.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1709928"/>
            <a:ext cx="199522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Leaf Curl</a:t>
            </a:r>
          </a:p>
        </p:txBody>
      </p:sp>
      <p:sp>
        <p:nvSpPr>
          <p:cNvPr id="12" name="Shape"/>
          <p:cNvSpPr/>
          <p:nvPr/>
        </p:nvSpPr>
        <p:spPr>
          <a:xfrm>
            <a:off x="2726740" y="1801368"/>
            <a:ext cx="2851099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2726740" y="1801368"/>
            <a:ext cx="2798353" cy="281635"/>
          </a:xfrm>
          <a:prstGeom prst="roundRect">
            <a:avLst/>
          </a:prstGeom>
          <a:solidFill>
            <a:srgbClr val="39A6A3"/>
          </a:solidFill>
          <a:ln>
            <a:noFill/>
          </a:ln>
        </p:spPr>
      </p:sp>
      <p:sp>
        <p:nvSpPr>
          <p:cNvPr id="14" name="TextBox"/>
          <p:cNvSpPr txBox="1"/>
          <p:nvPr/>
        </p:nvSpPr>
        <p:spPr>
          <a:xfrm>
            <a:off x="5669279" y="1709928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98.15% F1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85800" y="2514600"/>
            <a:ext cx="199522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Bacterial Spot</a:t>
            </a:r>
          </a:p>
        </p:txBody>
      </p:sp>
      <p:sp>
        <p:nvSpPr>
          <p:cNvPr id="16" name="Shape"/>
          <p:cNvSpPr/>
          <p:nvPr/>
        </p:nvSpPr>
        <p:spPr>
          <a:xfrm>
            <a:off x="2726740" y="2606040"/>
            <a:ext cx="2851099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7" name="Shape"/>
          <p:cNvSpPr/>
          <p:nvPr/>
        </p:nvSpPr>
        <p:spPr>
          <a:xfrm>
            <a:off x="2726740" y="2606040"/>
            <a:ext cx="2725365" cy="281635"/>
          </a:xfrm>
          <a:prstGeom prst="round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18" name="TextBox"/>
          <p:cNvSpPr txBox="1"/>
          <p:nvPr/>
        </p:nvSpPr>
        <p:spPr>
          <a:xfrm>
            <a:off x="5669279" y="2514600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95.59% F1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5800" y="3319272"/>
            <a:ext cx="199522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Healthy</a:t>
            </a:r>
          </a:p>
        </p:txBody>
      </p:sp>
      <p:sp>
        <p:nvSpPr>
          <p:cNvPr id="20" name="Shape"/>
          <p:cNvSpPr/>
          <p:nvPr/>
        </p:nvSpPr>
        <p:spPr>
          <a:xfrm>
            <a:off x="2726740" y="3410712"/>
            <a:ext cx="2851099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1" name="Shape"/>
          <p:cNvSpPr/>
          <p:nvPr/>
        </p:nvSpPr>
        <p:spPr>
          <a:xfrm>
            <a:off x="2726740" y="3410712"/>
            <a:ext cx="2683454" cy="281635"/>
          </a:xfrm>
          <a:prstGeom prst="round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2" name="TextBox"/>
          <p:cNvSpPr txBox="1"/>
          <p:nvPr/>
        </p:nvSpPr>
        <p:spPr>
          <a:xfrm>
            <a:off x="5669279" y="3319272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94.12% F1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685800" y="4123944"/>
            <a:ext cx="199522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Anthracnose</a:t>
            </a:r>
          </a:p>
        </p:txBody>
      </p:sp>
      <p:sp>
        <p:nvSpPr>
          <p:cNvPr id="24" name="Shape"/>
          <p:cNvSpPr/>
          <p:nvPr/>
        </p:nvSpPr>
        <p:spPr>
          <a:xfrm>
            <a:off x="2726740" y="4215384"/>
            <a:ext cx="2851099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5" name="Shape"/>
          <p:cNvSpPr/>
          <p:nvPr/>
        </p:nvSpPr>
        <p:spPr>
          <a:xfrm>
            <a:off x="2726740" y="4215384"/>
            <a:ext cx="2668058" cy="281635"/>
          </a:xfrm>
          <a:prstGeom prst="roundRect">
            <a:avLst/>
          </a:prstGeom>
          <a:solidFill>
            <a:srgbClr val="C94A45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5669279" y="4123944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93.58% F1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685800" y="4928616"/>
            <a:ext cx="199522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Ring Spot</a:t>
            </a:r>
          </a:p>
        </p:txBody>
      </p:sp>
      <p:sp>
        <p:nvSpPr>
          <p:cNvPr id="28" name="Shape"/>
          <p:cNvSpPr/>
          <p:nvPr/>
        </p:nvSpPr>
        <p:spPr>
          <a:xfrm>
            <a:off x="2726740" y="5020056"/>
            <a:ext cx="2851099" cy="281635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9" name="Shape"/>
          <p:cNvSpPr/>
          <p:nvPr/>
        </p:nvSpPr>
        <p:spPr>
          <a:xfrm>
            <a:off x="2726740" y="5020056"/>
            <a:ext cx="2656369" cy="281635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30" name="TextBox"/>
          <p:cNvSpPr txBox="1"/>
          <p:nvPr/>
        </p:nvSpPr>
        <p:spPr>
          <a:xfrm>
            <a:off x="5669279" y="4928616"/>
            <a:ext cx="685800" cy="643737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93.17% F1</a:t>
            </a:r>
          </a:p>
        </p:txBody>
      </p:sp>
      <p:sp>
        <p:nvSpPr>
          <p:cNvPr id="31" name="Shape"/>
          <p:cNvSpPr/>
          <p:nvPr/>
        </p:nvSpPr>
        <p:spPr>
          <a:xfrm>
            <a:off x="6583680" y="1691640"/>
            <a:ext cx="4434840" cy="40233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32" name="TextBox"/>
          <p:cNvSpPr txBox="1"/>
          <p:nvPr/>
        </p:nvSpPr>
        <p:spPr>
          <a:xfrm>
            <a:off x="6812280" y="19202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Analysis of Confusion Matrix (Only 15 Errors):</a:t>
            </a:r>
          </a:p>
        </p:txBody>
      </p:sp>
      <p:sp>
        <p:nvSpPr>
          <p:cNvPr id="33" name="Shape"/>
          <p:cNvSpPr/>
          <p:nvPr/>
        </p:nvSpPr>
        <p:spPr>
          <a:xfrm>
            <a:off x="681228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4" name="TextBox"/>
          <p:cNvSpPr txBox="1"/>
          <p:nvPr/>
        </p:nvSpPr>
        <p:spPr>
          <a:xfrm>
            <a:off x="7013448" y="246888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Highest Accuracy: Leaf Curl (98.15% F1) due to distinctive structural leaf deformation.</a:t>
            </a:r>
          </a:p>
        </p:txBody>
      </p:sp>
      <p:sp>
        <p:nvSpPr>
          <p:cNvPr id="35" name="Shape"/>
          <p:cNvSpPr/>
          <p:nvPr/>
        </p:nvSpPr>
        <p:spPr>
          <a:xfrm>
            <a:off x="6812280" y="32278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6" name="TextBox"/>
          <p:cNvSpPr txBox="1"/>
          <p:nvPr/>
        </p:nvSpPr>
        <p:spPr>
          <a:xfrm>
            <a:off x="7013448" y="315468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Minority Class Success: Despite having fewer training samples, Healthy (94.12%) and Bacterial Spot (95.59%) performed exceptionally well due to class-weighted loss.</a:t>
            </a:r>
          </a:p>
        </p:txBody>
      </p:sp>
      <p:sp>
        <p:nvSpPr>
          <p:cNvPr id="37" name="Shape"/>
          <p:cNvSpPr/>
          <p:nvPr/>
        </p:nvSpPr>
        <p:spPr>
          <a:xfrm>
            <a:off x="6812280" y="39136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8" name="TextBox"/>
          <p:cNvSpPr txBox="1"/>
          <p:nvPr/>
        </p:nvSpPr>
        <p:spPr>
          <a:xfrm>
            <a:off x="7013448" y="384048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Minor Misclassifications: Slight confusion between Anthracnose and Ring Spot (share visually similar early-stage brown/yellow ring spots).</a:t>
            </a:r>
          </a:p>
        </p:txBody>
      </p:sp>
      <p:sp>
        <p:nvSpPr>
          <p:cNvPr id="39" name="Shape"/>
          <p:cNvSpPr/>
          <p:nvPr/>
        </p:nvSpPr>
        <p:spPr>
          <a:xfrm>
            <a:off x="6812280" y="45994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40" name="TextBox"/>
          <p:cNvSpPr txBox="1"/>
          <p:nvPr/>
        </p:nvSpPr>
        <p:spPr>
          <a:xfrm>
            <a:off x="7013448" y="452628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Overall: High diagonal concentration confirms diagnostic reliability.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IV. Benchmarking Against Published Studies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Our model achieves competitive superiority on a strictly audited, cleaner dataset without duplicate leakage.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5800" y="1709928"/>
            <a:ext cx="199522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Darknet53 [23]</a:t>
            </a:r>
          </a:p>
        </p:txBody>
      </p:sp>
      <p:sp>
        <p:nvSpPr>
          <p:cNvPr id="12" name="Shape"/>
          <p:cNvSpPr/>
          <p:nvPr/>
        </p:nvSpPr>
        <p:spPr>
          <a:xfrm>
            <a:off x="2726740" y="1801368"/>
            <a:ext cx="2851099" cy="352044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2726740" y="1801368"/>
            <a:ext cx="2417161" cy="352044"/>
          </a:xfrm>
          <a:prstGeom prst="roundRect">
            <a:avLst/>
          </a:prstGeom>
          <a:solidFill>
            <a:srgbClr val="C94A45"/>
          </a:solidFill>
          <a:ln>
            <a:noFill/>
          </a:ln>
        </p:spPr>
      </p:sp>
      <p:sp>
        <p:nvSpPr>
          <p:cNvPr id="14" name="TextBox"/>
          <p:cNvSpPr txBox="1"/>
          <p:nvPr/>
        </p:nvSpPr>
        <p:spPr>
          <a:xfrm>
            <a:off x="5669279" y="1709928"/>
            <a:ext cx="6858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84.78%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85800" y="2715768"/>
            <a:ext cx="199522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ResNet50 [21]</a:t>
            </a:r>
          </a:p>
        </p:txBody>
      </p:sp>
      <p:sp>
        <p:nvSpPr>
          <p:cNvPr id="16" name="Shape"/>
          <p:cNvSpPr/>
          <p:nvPr/>
        </p:nvSpPr>
        <p:spPr>
          <a:xfrm>
            <a:off x="2726740" y="2807208"/>
            <a:ext cx="2851099" cy="352044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17" name="Shape"/>
          <p:cNvSpPr/>
          <p:nvPr/>
        </p:nvSpPr>
        <p:spPr>
          <a:xfrm>
            <a:off x="2726740" y="2807208"/>
            <a:ext cx="2507541" cy="352044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18" name="TextBox"/>
          <p:cNvSpPr txBox="1"/>
          <p:nvPr/>
        </p:nvSpPr>
        <p:spPr>
          <a:xfrm>
            <a:off x="5669279" y="2715768"/>
            <a:ext cx="6858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87.95%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5800" y="3721608"/>
            <a:ext cx="199522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HASPNet [22]</a:t>
            </a:r>
          </a:p>
        </p:txBody>
      </p:sp>
      <p:sp>
        <p:nvSpPr>
          <p:cNvPr id="20" name="Shape"/>
          <p:cNvSpPr/>
          <p:nvPr/>
        </p:nvSpPr>
        <p:spPr>
          <a:xfrm>
            <a:off x="2726740" y="3813048"/>
            <a:ext cx="2851099" cy="352044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1" name="Shape"/>
          <p:cNvSpPr/>
          <p:nvPr/>
        </p:nvSpPr>
        <p:spPr>
          <a:xfrm>
            <a:off x="2726740" y="3813048"/>
            <a:ext cx="2676326" cy="352044"/>
          </a:xfrm>
          <a:prstGeom prst="round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22" name="TextBox"/>
          <p:cNvSpPr txBox="1"/>
          <p:nvPr/>
        </p:nvSpPr>
        <p:spPr>
          <a:xfrm>
            <a:off x="5669279" y="3721608"/>
            <a:ext cx="6858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93.87%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685800" y="4727448"/>
            <a:ext cx="199522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1100">
                <a:solidFill>
                  <a:srgbClr val="17231A"/>
                </a:solidFill>
                <a:latin typeface="Aptos"/>
                <a:ea typeface="Aptos"/>
                <a:cs typeface="Aptos"/>
              </a:rPr>
              <a:t>Proposed Cascade</a:t>
            </a:r>
          </a:p>
        </p:txBody>
      </p:sp>
      <p:sp>
        <p:nvSpPr>
          <p:cNvPr id="24" name="Shape"/>
          <p:cNvSpPr/>
          <p:nvPr/>
        </p:nvSpPr>
        <p:spPr>
          <a:xfrm>
            <a:off x="2726740" y="4818888"/>
            <a:ext cx="2851099" cy="352044"/>
          </a:xfrm>
          <a:prstGeom prst="roundRect">
            <a:avLst/>
          </a:prstGeom>
          <a:solidFill>
            <a:srgbClr val="EEF2EE"/>
          </a:solidFill>
          <a:ln>
            <a:noFill/>
          </a:ln>
        </p:spPr>
      </p:sp>
      <p:sp>
        <p:nvSpPr>
          <p:cNvPr id="25" name="Shape"/>
          <p:cNvSpPr/>
          <p:nvPr/>
        </p:nvSpPr>
        <p:spPr>
          <a:xfrm>
            <a:off x="2726740" y="4818888"/>
            <a:ext cx="2704267" cy="352044"/>
          </a:xfrm>
          <a:prstGeom prst="round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5669279" y="4727448"/>
            <a:ext cx="6858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100">
                <a:solidFill>
                  <a:srgbClr val="5B6B5F"/>
                </a:solidFill>
                <a:latin typeface="Aptos"/>
                <a:ea typeface="Aptos"/>
                <a:cs typeface="Aptos"/>
              </a:rPr>
              <a:t>94.85%</a:t>
            </a:r>
          </a:p>
        </p:txBody>
      </p:sp>
      <p:sp>
        <p:nvSpPr>
          <p:cNvPr id="27" name="Shape"/>
          <p:cNvSpPr/>
          <p:nvPr/>
        </p:nvSpPr>
        <p:spPr>
          <a:xfrm>
            <a:off x="6583680" y="1691640"/>
            <a:ext cx="4434840" cy="402336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8" name="Shape"/>
          <p:cNvSpPr/>
          <p:nvPr/>
        </p:nvSpPr>
        <p:spPr>
          <a:xfrm>
            <a:off x="6583680" y="1691640"/>
            <a:ext cx="4434840" cy="54864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29" name="TextBox"/>
          <p:cNvSpPr txBox="1"/>
          <p:nvPr/>
        </p:nvSpPr>
        <p:spPr>
          <a:xfrm>
            <a:off x="6812280" y="18288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Why Our Benchmark is Highly Meaningful</a:t>
            </a:r>
          </a:p>
        </p:txBody>
      </p:sp>
      <p:sp>
        <p:nvSpPr>
          <p:cNvPr id="30" name="Shape"/>
          <p:cNvSpPr/>
          <p:nvPr/>
        </p:nvSpPr>
        <p:spPr>
          <a:xfrm>
            <a:off x="681228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1" name="TextBox"/>
          <p:cNvSpPr txBox="1"/>
          <p:nvPr/>
        </p:nvSpPr>
        <p:spPr>
          <a:xfrm>
            <a:off x="7013448" y="246888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Cleaner Benchmark: Unlike prior studies on BDPapayaLeaf that may have trained on noisy data, our results were achieved after purging ~200 identical duplicates.</a:t>
            </a:r>
          </a:p>
        </p:txBody>
      </p:sp>
      <p:sp>
        <p:nvSpPr>
          <p:cNvPr id="32" name="Shape"/>
          <p:cNvSpPr/>
          <p:nvPr/>
        </p:nvSpPr>
        <p:spPr>
          <a:xfrm>
            <a:off x="681228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3" name="TextBox"/>
          <p:cNvSpPr txBox="1"/>
          <p:nvPr/>
        </p:nvSpPr>
        <p:spPr>
          <a:xfrm>
            <a:off x="7013448" y="320040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Balanced Superiority: Prior Darknet studies [23] suffered from low F1-scores on Bacterial Spot (0.721) and Curl (0.765). Our model exceeds 95% and 98% on these exact classes!</a:t>
            </a:r>
          </a:p>
        </p:txBody>
      </p:sp>
      <p:sp>
        <p:nvSpPr>
          <p:cNvPr id="34" name="Shape"/>
          <p:cNvSpPr/>
          <p:nvPr/>
        </p:nvSpPr>
        <p:spPr>
          <a:xfrm>
            <a:off x="681228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5" name="TextBox"/>
          <p:cNvSpPr txBox="1"/>
          <p:nvPr/>
        </p:nvSpPr>
        <p:spPr>
          <a:xfrm>
            <a:off x="7013448" y="393192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Contextual Reference: Proves that combining detection with lightweight CNNs outperforms heavy standalone architectures.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V. Conclusion: Summary of Key Contributions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A robust, lightweight, and farm-ready computer vision framework for smart agriculture.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5029200" cy="17830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109728" cy="178308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3" name="TextBox"/>
          <p:cNvSpPr txBox="1"/>
          <p:nvPr/>
        </p:nvSpPr>
        <p:spPr>
          <a:xfrm>
            <a:off x="960120" y="1874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1. Background Suppression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960120" y="2286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Decoupling localization (YOLOv11m) from classification (EfficientNet-B2) boosts accuracy by +2.07% over whole-image baselines.</a:t>
            </a:r>
          </a:p>
        </p:txBody>
      </p:sp>
      <p:sp>
        <p:nvSpPr>
          <p:cNvPr id="15" name="Shape"/>
          <p:cNvSpPr/>
          <p:nvPr/>
        </p:nvSpPr>
        <p:spPr>
          <a:xfrm>
            <a:off x="5989320" y="1691640"/>
            <a:ext cx="5029200" cy="17830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6" name="Shape"/>
          <p:cNvSpPr/>
          <p:nvPr/>
        </p:nvSpPr>
        <p:spPr>
          <a:xfrm>
            <a:off x="5989320" y="1691640"/>
            <a:ext cx="109728" cy="178308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6263640" y="1874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2. Field Robustness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263640" y="2286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Accurately isolates lesions on occluded, overlapping, and awkwardly angled leaves without triggering false alarms on healthy foliage.</a:t>
            </a:r>
          </a:p>
        </p:txBody>
      </p:sp>
      <p:sp>
        <p:nvSpPr>
          <p:cNvPr id="19" name="Shape"/>
          <p:cNvSpPr/>
          <p:nvPr/>
        </p:nvSpPr>
        <p:spPr>
          <a:xfrm>
            <a:off x="685800" y="3703320"/>
            <a:ext cx="5029200" cy="17830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0" name="Shape"/>
          <p:cNvSpPr/>
          <p:nvPr/>
        </p:nvSpPr>
        <p:spPr>
          <a:xfrm>
            <a:off x="685800" y="3703320"/>
            <a:ext cx="109728" cy="178308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21" name="TextBox"/>
          <p:cNvSpPr txBox="1"/>
          <p:nvPr/>
        </p:nvSpPr>
        <p:spPr>
          <a:xfrm>
            <a:off x="960120" y="3886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3. Farm Scalability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960120" y="42976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Achieves 94.85% accuracy with ~30-45 ms latency and only 9.2M params — optimized for edge devices and agricultural drones.</a:t>
            </a:r>
          </a:p>
        </p:txBody>
      </p:sp>
      <p:sp>
        <p:nvSpPr>
          <p:cNvPr id="23" name="Shape"/>
          <p:cNvSpPr/>
          <p:nvPr/>
        </p:nvSpPr>
        <p:spPr>
          <a:xfrm>
            <a:off x="5989320" y="3703320"/>
            <a:ext cx="5029200" cy="178308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4" name="Shape"/>
          <p:cNvSpPr/>
          <p:nvPr/>
        </p:nvSpPr>
        <p:spPr>
          <a:xfrm>
            <a:off x="5989320" y="3703320"/>
            <a:ext cx="109728" cy="1783080"/>
          </a:xfrm>
          <a:prstGeom prst="rect">
            <a:avLst/>
          </a:prstGeom>
          <a:solidFill>
            <a:srgbClr val="C94A45"/>
          </a:solidFill>
          <a:ln>
            <a:noFill/>
          </a:ln>
        </p:spPr>
      </p:sp>
      <p:sp>
        <p:nvSpPr>
          <p:cNvPr id="25" name="TextBox"/>
          <p:cNvSpPr txBox="1"/>
          <p:nvPr/>
        </p:nvSpPr>
        <p:spPr>
          <a:xfrm>
            <a:off x="6263640" y="3886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C94A45"/>
                </a:solidFill>
                <a:latin typeface="Aptos"/>
                <a:ea typeface="Aptos"/>
                <a:cs typeface="Aptos"/>
              </a:rPr>
              <a:t>4. Scientific Integrity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263640" y="429768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5B6B5F"/>
                </a:solidFill>
                <a:latin typeface="Aptos"/>
                <a:ea typeface="Aptos"/>
                <a:cs typeface="Aptos"/>
              </a:rPr>
              <a:t>Identified and resolved public dataset anomalies (purging ~200 duplicate images), establishing a reliable benchmark.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V. Conclusion: Future Work &amp; Real-World Deployment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Moving from controlled evaluation toward reliable field decision support for agricultural robotics.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32918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Shape"/>
          <p:cNvSpPr/>
          <p:nvPr/>
        </p:nvSpPr>
        <p:spPr>
          <a:xfrm>
            <a:off x="685800" y="1691640"/>
            <a:ext cx="3291840" cy="548640"/>
          </a:xfrm>
          <a:prstGeom prst="roundRect">
            <a:avLst/>
          </a:prstGeom>
          <a:solidFill>
            <a:srgbClr val="E6F2EA"/>
          </a:solidFill>
          <a:ln w="11000">
            <a:solidFill>
              <a:srgbClr val="2E7D55"/>
            </a:solidFill>
          </a:ln>
        </p:spPr>
      </p:sp>
      <p:sp>
        <p:nvSpPr>
          <p:cNvPr id="13" name="TextBox"/>
          <p:cNvSpPr txBox="1"/>
          <p:nvPr/>
        </p:nvSpPr>
        <p:spPr>
          <a:xfrm>
            <a:off x="86868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1. Dataset Expansion</a:t>
            </a:r>
          </a:p>
        </p:txBody>
      </p:sp>
      <p:sp>
        <p:nvSpPr>
          <p:cNvPr id="14" name="Shape"/>
          <p:cNvSpPr/>
          <p:nvPr/>
        </p:nvSpPr>
        <p:spPr>
          <a:xfrm>
            <a:off x="86868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5" name="TextBox"/>
          <p:cNvSpPr txBox="1"/>
          <p:nvPr/>
        </p:nvSpPr>
        <p:spPr>
          <a:xfrm>
            <a:off x="106984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Collect multi-environmental datasets across diverse farming regions.</a:t>
            </a:r>
          </a:p>
        </p:txBody>
      </p:sp>
      <p:sp>
        <p:nvSpPr>
          <p:cNvPr id="16" name="Shape"/>
          <p:cNvSpPr/>
          <p:nvPr/>
        </p:nvSpPr>
        <p:spPr>
          <a:xfrm>
            <a:off x="86868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7" name="TextBox"/>
          <p:cNvSpPr txBox="1"/>
          <p:nvPr/>
        </p:nvSpPr>
        <p:spPr>
          <a:xfrm>
            <a:off x="106984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Explicitly incorporate environmental background flora (soil, stones, weeds) into background-rejection filters.</a:t>
            </a:r>
          </a:p>
        </p:txBody>
      </p:sp>
      <p:sp>
        <p:nvSpPr>
          <p:cNvPr id="18" name="Shape"/>
          <p:cNvSpPr/>
          <p:nvPr/>
        </p:nvSpPr>
        <p:spPr>
          <a:xfrm>
            <a:off x="86868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9" name="TextBox"/>
          <p:cNvSpPr txBox="1"/>
          <p:nvPr/>
        </p:nvSpPr>
        <p:spPr>
          <a:xfrm>
            <a:off x="106984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Enhance robustness against varying orchard illumination.</a:t>
            </a:r>
          </a:p>
        </p:txBody>
      </p:sp>
      <p:sp>
        <p:nvSpPr>
          <p:cNvPr id="20" name="Shape"/>
          <p:cNvSpPr/>
          <p:nvPr/>
        </p:nvSpPr>
        <p:spPr>
          <a:xfrm>
            <a:off x="4206240" y="1691640"/>
            <a:ext cx="32918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21" name="Shape"/>
          <p:cNvSpPr/>
          <p:nvPr/>
        </p:nvSpPr>
        <p:spPr>
          <a:xfrm>
            <a:off x="4206240" y="1691640"/>
            <a:ext cx="3291840" cy="548640"/>
          </a:xfrm>
          <a:prstGeom prst="roundRect">
            <a:avLst/>
          </a:prstGeom>
          <a:solidFill>
            <a:srgbClr val="E7F0FA"/>
          </a:solidFill>
          <a:ln w="11000">
            <a:solidFill>
              <a:srgbClr val="2F6FB6"/>
            </a:solidFill>
          </a:ln>
        </p:spPr>
      </p:sp>
      <p:sp>
        <p:nvSpPr>
          <p:cNvPr id="22" name="TextBox"/>
          <p:cNvSpPr txBox="1"/>
          <p:nvPr/>
        </p:nvSpPr>
        <p:spPr>
          <a:xfrm>
            <a:off x="438912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F6FB6"/>
                </a:solidFill>
                <a:latin typeface="Aptos"/>
                <a:ea typeface="Aptos"/>
                <a:cs typeface="Aptos"/>
              </a:rPr>
              <a:t>2. Advanced Architectures</a:t>
            </a:r>
          </a:p>
        </p:txBody>
      </p:sp>
      <p:sp>
        <p:nvSpPr>
          <p:cNvPr id="23" name="Shape"/>
          <p:cNvSpPr/>
          <p:nvPr/>
        </p:nvSpPr>
        <p:spPr>
          <a:xfrm>
            <a:off x="438912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459028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Explore Vision Transformers (ViTs) and hybrid attention networks.</a:t>
            </a:r>
          </a:p>
        </p:txBody>
      </p:sp>
      <p:sp>
        <p:nvSpPr>
          <p:cNvPr id="25" name="Shape"/>
          <p:cNvSpPr/>
          <p:nvPr/>
        </p:nvSpPr>
        <p:spPr>
          <a:xfrm>
            <a:off x="438912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6" name="TextBox"/>
          <p:cNvSpPr txBox="1"/>
          <p:nvPr/>
        </p:nvSpPr>
        <p:spPr>
          <a:xfrm>
            <a:off x="459028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Integrate self-supervised learning for subtle early-stage lesion recognition.</a:t>
            </a:r>
          </a:p>
        </p:txBody>
      </p:sp>
      <p:sp>
        <p:nvSpPr>
          <p:cNvPr id="27" name="Shape"/>
          <p:cNvSpPr/>
          <p:nvPr/>
        </p:nvSpPr>
        <p:spPr>
          <a:xfrm>
            <a:off x="438912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8" name="TextBox"/>
          <p:cNvSpPr txBox="1"/>
          <p:nvPr/>
        </p:nvSpPr>
        <p:spPr>
          <a:xfrm>
            <a:off x="459028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Investigate ensemble learning methods for uncertainty estimation.</a:t>
            </a:r>
          </a:p>
        </p:txBody>
      </p:sp>
      <p:sp>
        <p:nvSpPr>
          <p:cNvPr id="29" name="Shape"/>
          <p:cNvSpPr/>
          <p:nvPr/>
        </p:nvSpPr>
        <p:spPr>
          <a:xfrm>
            <a:off x="7726679" y="1691640"/>
            <a:ext cx="32918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30" name="Shape"/>
          <p:cNvSpPr/>
          <p:nvPr/>
        </p:nvSpPr>
        <p:spPr>
          <a:xfrm>
            <a:off x="7726679" y="1691640"/>
            <a:ext cx="3291840" cy="548640"/>
          </a:xfrm>
          <a:prstGeom prst="roundRect">
            <a:avLst/>
          </a:prstGeom>
          <a:solidFill>
            <a:srgbClr val="FFF3DE"/>
          </a:solidFill>
          <a:ln w="11000">
            <a:solidFill>
              <a:srgbClr val="E8A13A"/>
            </a:solidFill>
          </a:ln>
        </p:spPr>
      </p:sp>
      <p:sp>
        <p:nvSpPr>
          <p:cNvPr id="31" name="TextBox"/>
          <p:cNvSpPr txBox="1"/>
          <p:nvPr/>
        </p:nvSpPr>
        <p:spPr>
          <a:xfrm>
            <a:off x="7909560" y="1828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E8A13A"/>
                </a:solidFill>
                <a:latin typeface="Aptos"/>
                <a:ea typeface="Aptos"/>
                <a:cs typeface="Aptos"/>
              </a:rPr>
              <a:t>3. Edge &amp; Drone AI</a:t>
            </a:r>
          </a:p>
        </p:txBody>
      </p:sp>
      <p:sp>
        <p:nvSpPr>
          <p:cNvPr id="32" name="Shape"/>
          <p:cNvSpPr/>
          <p:nvPr/>
        </p:nvSpPr>
        <p:spPr>
          <a:xfrm>
            <a:off x="790956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3" name="TextBox"/>
          <p:cNvSpPr txBox="1"/>
          <p:nvPr/>
        </p:nvSpPr>
        <p:spPr>
          <a:xfrm>
            <a:off x="8110728" y="246888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Port lightweight pipeline onto embedded IoT hardware (NVIDIA Jetson, Raspberry Pi).</a:t>
            </a:r>
          </a:p>
        </p:txBody>
      </p:sp>
      <p:sp>
        <p:nvSpPr>
          <p:cNvPr id="34" name="Shape"/>
          <p:cNvSpPr/>
          <p:nvPr/>
        </p:nvSpPr>
        <p:spPr>
          <a:xfrm>
            <a:off x="790956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5" name="TextBox"/>
          <p:cNvSpPr txBox="1"/>
          <p:nvPr/>
        </p:nvSpPr>
        <p:spPr>
          <a:xfrm>
            <a:off x="8110728" y="320040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Deploy on agricultural drones for automated orchard monitoring.</a:t>
            </a:r>
          </a:p>
        </p:txBody>
      </p:sp>
      <p:sp>
        <p:nvSpPr>
          <p:cNvPr id="36" name="Shape"/>
          <p:cNvSpPr/>
          <p:nvPr/>
        </p:nvSpPr>
        <p:spPr>
          <a:xfrm>
            <a:off x="790956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37" name="TextBox"/>
          <p:cNvSpPr txBox="1"/>
          <p:nvPr/>
        </p:nvSpPr>
        <p:spPr>
          <a:xfrm>
            <a:off x="8110728" y="3931920"/>
            <a:ext cx="2724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Support precision pesticide spraying to minimize chemical usage.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</p:sp>
      <p:sp>
        <p:nvSpPr>
          <p:cNvPr id="3" name="TextBox"/>
          <p:cNvSpPr txBox="1"/>
          <p:nvPr/>
        </p:nvSpPr>
        <p:spPr>
          <a:xfrm>
            <a:off x="502920" y="301752"/>
            <a:ext cx="1110996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2500" b="1">
                <a:solidFill>
                  <a:srgbClr val="17231A"/>
                </a:solidFill>
                <a:latin typeface="Aptos Display"/>
                <a:ea typeface="Aptos Display"/>
                <a:cs typeface="Aptos Display"/>
              </a:rPr>
              <a:t>Thank You for Your Attention! Questions &amp; Discussion</a:t>
            </a:r>
          </a:p>
        </p:txBody>
      </p:sp>
      <p:sp>
        <p:nvSpPr>
          <p:cNvPr id="4" name="Shape"/>
          <p:cNvSpPr/>
          <p:nvPr/>
        </p:nvSpPr>
        <p:spPr>
          <a:xfrm>
            <a:off x="502920" y="896112"/>
            <a:ext cx="1097280" cy="45720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5" name="Shape"/>
          <p:cNvSpPr/>
          <p:nvPr/>
        </p:nvSpPr>
        <p:spPr>
          <a:xfrm>
            <a:off x="1627632" y="896112"/>
            <a:ext cx="502920" cy="45720"/>
          </a:xfrm>
          <a:prstGeom prst="rect">
            <a:avLst/>
          </a:prstGeom>
          <a:solidFill>
            <a:srgbClr val="E8A13A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2157984" y="896112"/>
            <a:ext cx="502920" cy="45720"/>
          </a:xfrm>
          <a:prstGeom prst="rect">
            <a:avLst/>
          </a:prstGeom>
          <a:solidFill>
            <a:srgbClr val="2F6FB6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502920" y="6565392"/>
            <a:ext cx="11201400" cy="9144"/>
          </a:xfrm>
          <a:prstGeom prst="rect">
            <a:avLst/>
          </a:prstGeom>
          <a:solidFill>
            <a:srgbClr val="CAD7CC"/>
          </a:solidFill>
          <a:ln>
            <a:noFill/>
          </a:ln>
        </p:spPr>
      </p:sp>
      <p:sp>
        <p:nvSpPr>
          <p:cNvPr id="8" name="TextBox"/>
          <p:cNvSpPr txBox="1"/>
          <p:nvPr/>
        </p:nvSpPr>
        <p:spPr>
          <a:xfrm>
            <a:off x="530352" y="6601968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IEEE GTSD 2026 | Papaya Leaf Disease Detection &amp; Classification Cascade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201400" y="6601968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r"/>
            <a:r>
              <a:rPr lang="en-US" sz="800">
                <a:solidFill>
                  <a:srgbClr val="5B6B5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58368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17231A"/>
                </a:solidFill>
                <a:latin typeface="Aptos"/>
                <a:ea typeface="Aptos"/>
                <a:cs typeface="Aptos"/>
              </a:rPr>
              <a:t>We sincerely appreciate the opportunity to present our research at IEEE GTSD 2026.</a:t>
            </a:r>
          </a:p>
        </p:txBody>
      </p:sp>
      <p:sp>
        <p:nvSpPr>
          <p:cNvPr id="11" name="Shape"/>
          <p:cNvSpPr/>
          <p:nvPr/>
        </p:nvSpPr>
        <p:spPr>
          <a:xfrm>
            <a:off x="685800" y="1691640"/>
            <a:ext cx="5120640" cy="411480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CAD7CC"/>
            </a:solidFill>
          </a:ln>
        </p:spPr>
      </p:sp>
      <p:sp>
        <p:nvSpPr>
          <p:cNvPr id="12" name="TextBox"/>
          <p:cNvSpPr txBox="1"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600" b="1">
                <a:solidFill>
                  <a:srgbClr val="2E7D55"/>
                </a:solidFill>
                <a:latin typeface="Aptos"/>
                <a:ea typeface="Aptos"/>
                <a:cs typeface="Aptos"/>
              </a:rPr>
              <a:t>Research Team &amp; Contact Information:</a:t>
            </a:r>
          </a:p>
        </p:txBody>
      </p:sp>
      <p:sp>
        <p:nvSpPr>
          <p:cNvPr id="13" name="Shape"/>
          <p:cNvSpPr/>
          <p:nvPr/>
        </p:nvSpPr>
        <p:spPr>
          <a:xfrm>
            <a:off x="914400" y="254203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4" name="TextBox"/>
          <p:cNvSpPr txBox="1"/>
          <p:nvPr/>
        </p:nvSpPr>
        <p:spPr>
          <a:xfrm>
            <a:off x="1115568" y="2468880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Presenter: Dang Quang Pham (quang.wthz@gmail.com)</a:t>
            </a:r>
          </a:p>
        </p:txBody>
      </p:sp>
      <p:sp>
        <p:nvSpPr>
          <p:cNvPr id="15" name="Shape"/>
          <p:cNvSpPr/>
          <p:nvPr/>
        </p:nvSpPr>
        <p:spPr>
          <a:xfrm>
            <a:off x="914400" y="327355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6" name="TextBox"/>
          <p:cNvSpPr txBox="1"/>
          <p:nvPr/>
        </p:nvSpPr>
        <p:spPr>
          <a:xfrm>
            <a:off x="1115568" y="3200400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Co-authors: Quang Sang Le | Manh Quan Bui | Minh Hieu Vu</a:t>
            </a:r>
          </a:p>
        </p:txBody>
      </p:sp>
      <p:sp>
        <p:nvSpPr>
          <p:cNvPr id="17" name="Shape"/>
          <p:cNvSpPr/>
          <p:nvPr/>
        </p:nvSpPr>
        <p:spPr>
          <a:xfrm>
            <a:off x="914400" y="400507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18" name="TextBox"/>
          <p:cNvSpPr txBox="1"/>
          <p:nvPr/>
        </p:nvSpPr>
        <p:spPr>
          <a:xfrm>
            <a:off x="1115568" y="3931920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Affiliation: Faculty of Information Technology, Ho Chi Minh City University of Technology and Engineering (HCMUTE), Vietnam</a:t>
            </a:r>
          </a:p>
        </p:txBody>
      </p:sp>
      <p:sp>
        <p:nvSpPr>
          <p:cNvPr id="19" name="Shape"/>
          <p:cNvSpPr/>
          <p:nvPr/>
        </p:nvSpPr>
        <p:spPr>
          <a:xfrm>
            <a:off x="914400" y="4736592"/>
            <a:ext cx="82296" cy="82296"/>
          </a:xfrm>
          <a:prstGeom prst="ellipse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0" name="TextBox"/>
          <p:cNvSpPr txBox="1"/>
          <p:nvPr/>
        </p:nvSpPr>
        <p:spPr>
          <a:xfrm>
            <a:off x="1115568" y="4663440"/>
            <a:ext cx="44622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300">
                <a:solidFill>
                  <a:srgbClr val="17231A"/>
                </a:solidFill>
                <a:latin typeface="Aptos"/>
                <a:ea typeface="Aptos"/>
                <a:cs typeface="Aptos"/>
              </a:rPr>
              <a:t>Acknowledgment: This research was funded by Ho Chi Minh City University of Technology and Engineering under Grant No. SV2026-08.</a:t>
            </a:r>
          </a:p>
        </p:txBody>
      </p:sp>
      <p:sp>
        <p:nvSpPr>
          <p:cNvPr id="21" name="Shape"/>
          <p:cNvSpPr/>
          <p:nvPr/>
        </p:nvSpPr>
        <p:spPr>
          <a:xfrm>
            <a:off x="6080760" y="1691640"/>
            <a:ext cx="4937760" cy="4114800"/>
          </a:xfrm>
          <a:prstGeom prst="roundRect">
            <a:avLst/>
          </a:prstGeom>
          <a:solidFill>
            <a:srgbClr val="17231A"/>
          </a:solidFill>
          <a:ln>
            <a:noFill/>
          </a:ln>
        </p:spPr>
      </p:sp>
      <p:sp>
        <p:nvSpPr>
          <p:cNvPr id="22" name="TextBox"/>
          <p:cNvSpPr txBox="1"/>
          <p:nvPr/>
        </p:nvSpPr>
        <p:spPr>
          <a:xfrm>
            <a:off x="6309360" y="19202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Take-Home Message</a:t>
            </a:r>
          </a:p>
        </p:txBody>
      </p:sp>
      <p:sp>
        <p:nvSpPr>
          <p:cNvPr id="23" name="Shape"/>
          <p:cNvSpPr/>
          <p:nvPr/>
        </p:nvSpPr>
        <p:spPr>
          <a:xfrm>
            <a:off x="6309360" y="2377440"/>
            <a:ext cx="4480560" cy="36576"/>
          </a:xfrm>
          <a:prstGeom prst="rect">
            <a:avLst/>
          </a:prstGeom>
          <a:solidFill>
            <a:srgbClr val="2E7D55"/>
          </a:solidFill>
          <a:ln>
            <a:noFill/>
          </a:ln>
        </p:spPr>
      </p:sp>
      <p:sp>
        <p:nvSpPr>
          <p:cNvPr id="24" name="TextBox"/>
          <p:cNvSpPr txBox="1"/>
          <p:nvPr/>
        </p:nvSpPr>
        <p:spPr>
          <a:xfrm>
            <a:off x="6309360" y="2560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E6F2EA"/>
                </a:solidFill>
                <a:latin typeface="Aptos"/>
                <a:ea typeface="Aptos"/>
                <a:cs typeface="Aptos"/>
              </a:rPr>
              <a:t>1. Localize First, Classify Second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6309360" y="288036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Cropping ROIs strips away soil, stones, and overlapping foliage.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309360" y="338328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E7F0FA"/>
                </a:solidFill>
                <a:latin typeface="Aptos"/>
                <a:ea typeface="Aptos"/>
                <a:cs typeface="Aptos"/>
              </a:rPr>
              <a:t>2. 94.85% Cascade Accuracy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6309360" y="37033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Outperformed whole-image EfficientNet-B2 baseline by +2.07%.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6309360" y="420624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500" b="1">
                <a:solidFill>
                  <a:srgbClr val="FFF3DE"/>
                </a:solidFill>
                <a:latin typeface="Aptos"/>
                <a:ea typeface="Aptos"/>
                <a:cs typeface="Aptos"/>
              </a:rPr>
              <a:t>3. Farm-Ready Scalability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6309360" y="45262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80000" rIns="80000" tIns="50000" bIns="50000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~30 ms latency and 9.2M params — ready for drones and IoT devices.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aya GTSD Conference Theme">
  <a:themeElements>
    <a:clrScheme name="Papaya">
      <a:dk1>
        <a:srgbClr val="17231A"/>
      </a:dk1>
      <a:lt1>
        <a:srgbClr val="F8FAF7"/>
      </a:lt1>
      <a:dk2>
        <a:srgbClr val="2E7D55"/>
      </a:dk2>
      <a:lt2>
        <a:srgbClr val="FFFFFF"/>
      </a:lt2>
      <a:accent1>
        <a:srgbClr val="2E7D55"/>
      </a:accent1>
      <a:accent2>
        <a:srgbClr val="2F6FB6"/>
      </a:accent2>
      <a:accent3>
        <a:srgbClr val="E8A13A"/>
      </a:accent3>
      <a:accent4>
        <a:srgbClr val="C94A45"/>
      </a:accent4>
      <a:accent5>
        <a:srgbClr val="39A6A3"/>
      </a:accent5>
      <a:accent6>
        <a:srgbClr val="8BC34A"/>
      </a:accent6>
      <a:hlink>
        <a:srgbClr val="2F6FB6"/>
      </a:hlink>
      <a:folHlink>
        <a:srgbClr val="5B6B5F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apaya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GTSD 2026 PPTX Generator</Application>
  <PresentationFormat>On-screen Show (16:9)</PresentationFormat>
  <Slides>18</Slides>
  <Company>Ho Chi Minh City University of Technology and Engineering (HCMUTE)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 GTSD 2026 Presentation: Papaya Leaf Disease Detection Cascade</dc:title>
  <dc:subject>Two-stage deep learning cascade framework</dc:subject>
  <dc:creator>HCMUTE Research Team</dc:creator>
  <cp:lastModifiedBy>HCMUTE Research Team</cp:lastModifiedBy>
  <dcterms:created xsi:type="dcterms:W3CDTF">2026-07-07T08:11:29Z</dcterms:created>
  <dcterms:modified xsi:type="dcterms:W3CDTF">2026-07-07T08:11:29Z</dcterms:modified>
</cp:coreProperties>
</file>